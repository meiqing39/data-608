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9" r:id="rId4"/>
  </p:sldMasterIdLst>
  <p:notesMasterIdLst>
    <p:notesMasterId r:id="rId12"/>
  </p:notesMasterIdLst>
  <p:handoutMasterIdLst>
    <p:handoutMasterId r:id="rId13"/>
  </p:handoutMasterIdLst>
  <p:sldIdLst>
    <p:sldId id="342" r:id="rId5"/>
    <p:sldId id="379" r:id="rId6"/>
    <p:sldId id="381" r:id="rId7"/>
    <p:sldId id="383" r:id="rId8"/>
    <p:sldId id="384" r:id="rId9"/>
    <p:sldId id="385" r:id="rId10"/>
    <p:sldId id="38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83791" autoAdjust="0"/>
  </p:normalViewPr>
  <p:slideViewPr>
    <p:cSldViewPr snapToGrid="0" snapToObjects="1" showGuides="1">
      <p:cViewPr varScale="1">
        <p:scale>
          <a:sx n="93" d="100"/>
          <a:sy n="93" d="100"/>
        </p:scale>
        <p:origin x="1284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60E04618-B4ED-43BF-B1BE-967FC3496F4A}">
      <dgm:prSet/>
      <dgm:spPr/>
      <dgm:t>
        <a:bodyPr/>
        <a:lstStyle/>
        <a:p>
          <a:r>
            <a:rPr lang="en-US" b="1" dirty="0"/>
            <a:t>Chart 1 Bar Chart — Direct baseline salary comparison across technical specializations.</a:t>
          </a:r>
          <a:endParaRPr lang="en-US" dirty="0"/>
        </a:p>
      </dgm:t>
    </dgm:pt>
    <dgm:pt modelId="{F3F56AAF-E120-4706-8698-F372C4B934B7}" type="parTrans" cxnId="{98D3A1A0-E9EB-4649-9B29-3A5A4C1DF945}">
      <dgm:prSet/>
      <dgm:spPr/>
      <dgm:t>
        <a:bodyPr/>
        <a:lstStyle/>
        <a:p>
          <a:endParaRPr lang="en-US"/>
        </a:p>
      </dgm:t>
    </dgm:pt>
    <dgm:pt modelId="{27E48ADB-DDD0-4D58-9B3A-AF03CCE36DEA}" type="sibTrans" cxnId="{98D3A1A0-E9EB-4649-9B29-3A5A4C1DF945}">
      <dgm:prSet/>
      <dgm:spPr/>
      <dgm:t>
        <a:bodyPr/>
        <a:lstStyle/>
        <a:p>
          <a:endParaRPr lang="en-US"/>
        </a:p>
      </dgm:t>
    </dgm:pt>
    <dgm:pt modelId="{02B72DF9-1D40-47E2-84CB-3D6CBF09ED87}">
      <dgm:prSet/>
      <dgm:spPr/>
      <dgm:t>
        <a:bodyPr/>
        <a:lstStyle/>
        <a:p>
          <a:r>
            <a:rPr lang="en-US" b="1" dirty="0"/>
            <a:t>Chart 2 Box Plots — Distributional analysis revealing the income ceilings by role.</a:t>
          </a:r>
          <a:endParaRPr lang="en-US" dirty="0"/>
        </a:p>
      </dgm:t>
    </dgm:pt>
    <dgm:pt modelId="{6BA29827-C61E-4BD5-9CA4-82CFA58A5BA4}" type="parTrans" cxnId="{36403FD5-F7D3-44CB-9FC5-798EE03B580B}">
      <dgm:prSet/>
      <dgm:spPr/>
      <dgm:t>
        <a:bodyPr/>
        <a:lstStyle/>
        <a:p>
          <a:endParaRPr lang="en-US"/>
        </a:p>
      </dgm:t>
    </dgm:pt>
    <dgm:pt modelId="{ADE15A77-9F36-4AC2-85D4-E4EDB7C1334C}" type="sibTrans" cxnId="{36403FD5-F7D3-44CB-9FC5-798EE03B580B}">
      <dgm:prSet/>
      <dgm:spPr/>
      <dgm:t>
        <a:bodyPr/>
        <a:lstStyle/>
        <a:p>
          <a:endParaRPr lang="en-US"/>
        </a:p>
      </dgm:t>
    </dgm:pt>
    <dgm:pt modelId="{19BE991B-A70E-4396-9962-A416BF109311}">
      <dgm:prSet/>
      <dgm:spPr/>
      <dgm:t>
        <a:bodyPr/>
        <a:lstStyle/>
        <a:p>
          <a:r>
            <a:rPr lang="en-US" b="1" dirty="0"/>
            <a:t>Chart 3 Dot Plot —geographic salary variation highlighting the top tech hubs.</a:t>
          </a:r>
          <a:endParaRPr lang="en-US" dirty="0"/>
        </a:p>
      </dgm:t>
    </dgm:pt>
    <dgm:pt modelId="{F3D8B0B3-E289-4070-BE36-49B19D6345CE}" type="parTrans" cxnId="{31397663-6C67-4C4D-940B-DD9931BE804F}">
      <dgm:prSet/>
      <dgm:spPr/>
      <dgm:t>
        <a:bodyPr/>
        <a:lstStyle/>
        <a:p>
          <a:endParaRPr lang="en-US"/>
        </a:p>
      </dgm:t>
    </dgm:pt>
    <dgm:pt modelId="{923C28F1-5909-4EA6-AEFE-85DAA9F29B8B}" type="sibTrans" cxnId="{31397663-6C67-4C4D-940B-DD9931BE804F}">
      <dgm:prSet/>
      <dgm:spPr/>
      <dgm:t>
        <a:bodyPr/>
        <a:lstStyle/>
        <a:p>
          <a:endParaRPr lang="en-US"/>
        </a:p>
      </dgm:t>
    </dgm:pt>
    <dgm:pt modelId="{4051450C-E909-429A-8CC0-3F6A42A2BFC1}">
      <dgm:prSet/>
      <dgm:spPr/>
      <dgm:t>
        <a:bodyPr/>
        <a:lstStyle/>
        <a:p>
          <a:r>
            <a:rPr lang="en-US" b="1" dirty="0"/>
            <a:t>Chart 3 Range Plot — </a:t>
          </a:r>
          <a:r>
            <a:rPr lang="en-US" b="1" dirty="0" err="1"/>
            <a:t>Statedistribution</a:t>
          </a:r>
          <a:r>
            <a:rPr lang="en-US" b="1" dirty="0"/>
            <a:t> ceilings and the ultimate compensation multiplier.</a:t>
          </a:r>
          <a:endParaRPr lang="en-US" dirty="0"/>
        </a:p>
      </dgm:t>
    </dgm:pt>
    <dgm:pt modelId="{4F6FAA75-2058-4CF3-8DA3-8972AF5AEEFF}" type="parTrans" cxnId="{C43250E4-C6B5-406E-9FF3-77190CA1CBC4}">
      <dgm:prSet/>
      <dgm:spPr/>
      <dgm:t>
        <a:bodyPr/>
        <a:lstStyle/>
        <a:p>
          <a:endParaRPr lang="en-US"/>
        </a:p>
      </dgm:t>
    </dgm:pt>
    <dgm:pt modelId="{76A96645-EBE7-4855-BB9B-DB130AA23A4D}" type="sibTrans" cxnId="{C43250E4-C6B5-406E-9FF3-77190CA1CBC4}">
      <dgm:prSet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  <dgm:pt modelId="{33764060-0E97-40DE-8807-09B074598153}" type="pres">
      <dgm:prSet presAssocID="{60E04618-B4ED-43BF-B1BE-967FC3496F4A}" presName="node" presStyleLbl="node1" presStyleIdx="0" presStyleCnt="4">
        <dgm:presLayoutVars>
          <dgm:bulletEnabled val="1"/>
        </dgm:presLayoutVars>
      </dgm:prSet>
      <dgm:spPr/>
    </dgm:pt>
    <dgm:pt modelId="{6F8A435E-897B-467D-8C8A-C5315A1E947F}" type="pres">
      <dgm:prSet presAssocID="{27E48ADB-DDD0-4D58-9B3A-AF03CCE36DEA}" presName="sibTrans" presStyleCnt="0"/>
      <dgm:spPr/>
    </dgm:pt>
    <dgm:pt modelId="{6DD9BC09-5125-446E-B501-50A2887C8596}" type="pres">
      <dgm:prSet presAssocID="{02B72DF9-1D40-47E2-84CB-3D6CBF09ED87}" presName="node" presStyleLbl="node1" presStyleIdx="1" presStyleCnt="4">
        <dgm:presLayoutVars>
          <dgm:bulletEnabled val="1"/>
        </dgm:presLayoutVars>
      </dgm:prSet>
      <dgm:spPr/>
    </dgm:pt>
    <dgm:pt modelId="{33E98733-1D15-4039-A501-D77A78C8827F}" type="pres">
      <dgm:prSet presAssocID="{ADE15A77-9F36-4AC2-85D4-E4EDB7C1334C}" presName="sibTrans" presStyleCnt="0"/>
      <dgm:spPr/>
    </dgm:pt>
    <dgm:pt modelId="{4E0A92B7-2148-4C6F-A3C6-0BC82C8DDFDE}" type="pres">
      <dgm:prSet presAssocID="{19BE991B-A70E-4396-9962-A416BF109311}" presName="node" presStyleLbl="node1" presStyleIdx="2" presStyleCnt="4">
        <dgm:presLayoutVars>
          <dgm:bulletEnabled val="1"/>
        </dgm:presLayoutVars>
      </dgm:prSet>
      <dgm:spPr/>
    </dgm:pt>
    <dgm:pt modelId="{53C826F9-D6C3-4FAB-B0AA-C425F256F4FD}" type="pres">
      <dgm:prSet presAssocID="{923C28F1-5909-4EA6-AEFE-85DAA9F29B8B}" presName="sibTrans" presStyleCnt="0"/>
      <dgm:spPr/>
    </dgm:pt>
    <dgm:pt modelId="{882E2E22-A670-4E16-AA2C-01FF6EBF1AA6}" type="pres">
      <dgm:prSet presAssocID="{4051450C-E909-429A-8CC0-3F6A42A2BFC1}" presName="node" presStyleLbl="node1" presStyleIdx="3" presStyleCnt="4">
        <dgm:presLayoutVars>
          <dgm:bulletEnabled val="1"/>
        </dgm:presLayoutVars>
      </dgm:prSet>
      <dgm:spPr/>
    </dgm:pt>
  </dgm:ptLst>
  <dgm:cxnLst>
    <dgm:cxn modelId="{51D98E07-6B5C-498F-A354-E1DEE22A796A}" type="presOf" srcId="{02B72DF9-1D40-47E2-84CB-3D6CBF09ED87}" destId="{6DD9BC09-5125-446E-B501-50A2887C8596}" srcOrd="0" destOrd="0" presId="urn:microsoft.com/office/officeart/2005/8/layout/default"/>
    <dgm:cxn modelId="{005E9E11-DDF2-4006-A2ED-FCBE0FF7624A}" type="presOf" srcId="{4051450C-E909-429A-8CC0-3F6A42A2BFC1}" destId="{882E2E22-A670-4E16-AA2C-01FF6EBF1AA6}" srcOrd="0" destOrd="0" presId="urn:microsoft.com/office/officeart/2005/8/layout/default"/>
    <dgm:cxn modelId="{31397663-6C67-4C4D-940B-DD9931BE804F}" srcId="{7633DCE3-76FB-4763-BADB-7E0B676897F2}" destId="{19BE991B-A70E-4396-9962-A416BF109311}" srcOrd="2" destOrd="0" parTransId="{F3D8B0B3-E289-4070-BE36-49B19D6345CE}" sibTransId="{923C28F1-5909-4EA6-AEFE-85DAA9F29B8B}"/>
    <dgm:cxn modelId="{F92B136A-47A2-4E20-B769-7E53FF281835}" type="presOf" srcId="{60E04618-B4ED-43BF-B1BE-967FC3496F4A}" destId="{33764060-0E97-40DE-8807-09B074598153}" srcOrd="0" destOrd="0" presId="urn:microsoft.com/office/officeart/2005/8/layout/default"/>
    <dgm:cxn modelId="{3A636B93-D2B5-4D96-A3FC-CA2C09B55324}" type="presOf" srcId="{7633DCE3-76FB-4763-BADB-7E0B676897F2}" destId="{0933937D-677F-4BCD-8785-3D63D104689F}" srcOrd="0" destOrd="0" presId="urn:microsoft.com/office/officeart/2005/8/layout/default"/>
    <dgm:cxn modelId="{27D55A9C-3E0F-4986-8852-7B56CC3943A6}" type="presOf" srcId="{19BE991B-A70E-4396-9962-A416BF109311}" destId="{4E0A92B7-2148-4C6F-A3C6-0BC82C8DDFDE}" srcOrd="0" destOrd="0" presId="urn:microsoft.com/office/officeart/2005/8/layout/default"/>
    <dgm:cxn modelId="{98D3A1A0-E9EB-4649-9B29-3A5A4C1DF945}" srcId="{7633DCE3-76FB-4763-BADB-7E0B676897F2}" destId="{60E04618-B4ED-43BF-B1BE-967FC3496F4A}" srcOrd="0" destOrd="0" parTransId="{F3F56AAF-E120-4706-8698-F372C4B934B7}" sibTransId="{27E48ADB-DDD0-4D58-9B3A-AF03CCE36DEA}"/>
    <dgm:cxn modelId="{36403FD5-F7D3-44CB-9FC5-798EE03B580B}" srcId="{7633DCE3-76FB-4763-BADB-7E0B676897F2}" destId="{02B72DF9-1D40-47E2-84CB-3D6CBF09ED87}" srcOrd="1" destOrd="0" parTransId="{6BA29827-C61E-4BD5-9CA4-82CFA58A5BA4}" sibTransId="{ADE15A77-9F36-4AC2-85D4-E4EDB7C1334C}"/>
    <dgm:cxn modelId="{C43250E4-C6B5-406E-9FF3-77190CA1CBC4}" srcId="{7633DCE3-76FB-4763-BADB-7E0B676897F2}" destId="{4051450C-E909-429A-8CC0-3F6A42A2BFC1}" srcOrd="3" destOrd="0" parTransId="{4F6FAA75-2058-4CF3-8DA3-8972AF5AEEFF}" sibTransId="{76A96645-EBE7-4855-BB9B-DB130AA23A4D}"/>
    <dgm:cxn modelId="{899D3FB6-A245-4558-95B6-B26E7704942D}" type="presParOf" srcId="{0933937D-677F-4BCD-8785-3D63D104689F}" destId="{33764060-0E97-40DE-8807-09B074598153}" srcOrd="0" destOrd="0" presId="urn:microsoft.com/office/officeart/2005/8/layout/default"/>
    <dgm:cxn modelId="{47C2A2ED-4B21-4C00-AB97-B0D2C57136A3}" type="presParOf" srcId="{0933937D-677F-4BCD-8785-3D63D104689F}" destId="{6F8A435E-897B-467D-8C8A-C5315A1E947F}" srcOrd="1" destOrd="0" presId="urn:microsoft.com/office/officeart/2005/8/layout/default"/>
    <dgm:cxn modelId="{A3F42F45-BFFD-49F3-BB08-C9DBEC4B0090}" type="presParOf" srcId="{0933937D-677F-4BCD-8785-3D63D104689F}" destId="{6DD9BC09-5125-446E-B501-50A2887C8596}" srcOrd="2" destOrd="0" presId="urn:microsoft.com/office/officeart/2005/8/layout/default"/>
    <dgm:cxn modelId="{8F4C1596-081B-4A9A-8372-1B056CB00F34}" type="presParOf" srcId="{0933937D-677F-4BCD-8785-3D63D104689F}" destId="{33E98733-1D15-4039-A501-D77A78C8827F}" srcOrd="3" destOrd="0" presId="urn:microsoft.com/office/officeart/2005/8/layout/default"/>
    <dgm:cxn modelId="{69D81230-F236-4A29-8C13-804A30BE7321}" type="presParOf" srcId="{0933937D-677F-4BCD-8785-3D63D104689F}" destId="{4E0A92B7-2148-4C6F-A3C6-0BC82C8DDFDE}" srcOrd="4" destOrd="0" presId="urn:microsoft.com/office/officeart/2005/8/layout/default"/>
    <dgm:cxn modelId="{392B600A-224E-4DA2-B72F-4C9AD761E813}" type="presParOf" srcId="{0933937D-677F-4BCD-8785-3D63D104689F}" destId="{53C826F9-D6C3-4FAB-B0AA-C425F256F4FD}" srcOrd="5" destOrd="0" presId="urn:microsoft.com/office/officeart/2005/8/layout/default"/>
    <dgm:cxn modelId="{D7E3A89C-1B98-4172-8386-E8988F6FDF54}" type="presParOf" srcId="{0933937D-677F-4BCD-8785-3D63D104689F}" destId="{882E2E22-A670-4E16-AA2C-01FF6EBF1AA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</dgm:ptLst>
  <dgm:cxnLst>
    <dgm:cxn modelId="{3A636B93-D2B5-4D96-A3FC-CA2C09B55324}" type="presOf" srcId="{7633DCE3-76FB-4763-BADB-7E0B676897F2}" destId="{0933937D-677F-4BCD-8785-3D63D104689F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</dgm:ptLst>
  <dgm:cxnLst>
    <dgm:cxn modelId="{3A636B93-D2B5-4D96-A3FC-CA2C09B55324}" type="presOf" srcId="{7633DCE3-76FB-4763-BADB-7E0B676897F2}" destId="{0933937D-677F-4BCD-8785-3D63D104689F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</dgm:ptLst>
  <dgm:cxnLst>
    <dgm:cxn modelId="{3A636B93-D2B5-4D96-A3FC-CA2C09B55324}" type="presOf" srcId="{7633DCE3-76FB-4763-BADB-7E0B676897F2}" destId="{0933937D-677F-4BCD-8785-3D63D104689F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</dgm:ptLst>
  <dgm:cxnLst>
    <dgm:cxn modelId="{3A636B93-D2B5-4D96-A3FC-CA2C09B55324}" type="presOf" srcId="{7633DCE3-76FB-4763-BADB-7E0B676897F2}" destId="{0933937D-677F-4BCD-8785-3D63D104689F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633DCE3-76FB-4763-BADB-7E0B676897F2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60E04618-B4ED-43BF-B1BE-967FC3496F4A}">
      <dgm:prSet/>
      <dgm:spPr/>
      <dgm:t>
        <a:bodyPr/>
        <a:lstStyle/>
        <a:p>
          <a:r>
            <a:rPr lang="en-US" b="1" dirty="0"/>
            <a:t>Chart 1 Bar Chart — Direct baseline salary comparison across technical specializations.</a:t>
          </a:r>
          <a:endParaRPr lang="en-US" dirty="0"/>
        </a:p>
      </dgm:t>
    </dgm:pt>
    <dgm:pt modelId="{F3F56AAF-E120-4706-8698-F372C4B934B7}" type="parTrans" cxnId="{98D3A1A0-E9EB-4649-9B29-3A5A4C1DF945}">
      <dgm:prSet/>
      <dgm:spPr/>
      <dgm:t>
        <a:bodyPr/>
        <a:lstStyle/>
        <a:p>
          <a:endParaRPr lang="en-US"/>
        </a:p>
      </dgm:t>
    </dgm:pt>
    <dgm:pt modelId="{27E48ADB-DDD0-4D58-9B3A-AF03CCE36DEA}" type="sibTrans" cxnId="{98D3A1A0-E9EB-4649-9B29-3A5A4C1DF945}">
      <dgm:prSet/>
      <dgm:spPr/>
      <dgm:t>
        <a:bodyPr/>
        <a:lstStyle/>
        <a:p>
          <a:endParaRPr lang="en-US"/>
        </a:p>
      </dgm:t>
    </dgm:pt>
    <dgm:pt modelId="{02B72DF9-1D40-47E2-84CB-3D6CBF09ED87}">
      <dgm:prSet/>
      <dgm:spPr/>
      <dgm:t>
        <a:bodyPr/>
        <a:lstStyle/>
        <a:p>
          <a:r>
            <a:rPr lang="en-US" b="1" dirty="0"/>
            <a:t>Chart 2 Box Plots — Distributional analysis revealing the income ceilings by role.</a:t>
          </a:r>
          <a:endParaRPr lang="en-US" dirty="0"/>
        </a:p>
      </dgm:t>
    </dgm:pt>
    <dgm:pt modelId="{6BA29827-C61E-4BD5-9CA4-82CFA58A5BA4}" type="parTrans" cxnId="{36403FD5-F7D3-44CB-9FC5-798EE03B580B}">
      <dgm:prSet/>
      <dgm:spPr/>
      <dgm:t>
        <a:bodyPr/>
        <a:lstStyle/>
        <a:p>
          <a:endParaRPr lang="en-US"/>
        </a:p>
      </dgm:t>
    </dgm:pt>
    <dgm:pt modelId="{ADE15A77-9F36-4AC2-85D4-E4EDB7C1334C}" type="sibTrans" cxnId="{36403FD5-F7D3-44CB-9FC5-798EE03B580B}">
      <dgm:prSet/>
      <dgm:spPr/>
      <dgm:t>
        <a:bodyPr/>
        <a:lstStyle/>
        <a:p>
          <a:endParaRPr lang="en-US"/>
        </a:p>
      </dgm:t>
    </dgm:pt>
    <dgm:pt modelId="{19BE991B-A70E-4396-9962-A416BF109311}">
      <dgm:prSet/>
      <dgm:spPr/>
      <dgm:t>
        <a:bodyPr/>
        <a:lstStyle/>
        <a:p>
          <a:r>
            <a:rPr lang="en-US" b="1" dirty="0"/>
            <a:t>Chart 3 Dot Plot —geographic salary variation highlighting the top tech hubs.</a:t>
          </a:r>
          <a:endParaRPr lang="en-US" dirty="0"/>
        </a:p>
      </dgm:t>
    </dgm:pt>
    <dgm:pt modelId="{F3D8B0B3-E289-4070-BE36-49B19D6345CE}" type="parTrans" cxnId="{31397663-6C67-4C4D-940B-DD9931BE804F}">
      <dgm:prSet/>
      <dgm:spPr/>
      <dgm:t>
        <a:bodyPr/>
        <a:lstStyle/>
        <a:p>
          <a:endParaRPr lang="en-US"/>
        </a:p>
      </dgm:t>
    </dgm:pt>
    <dgm:pt modelId="{923C28F1-5909-4EA6-AEFE-85DAA9F29B8B}" type="sibTrans" cxnId="{31397663-6C67-4C4D-940B-DD9931BE804F}">
      <dgm:prSet/>
      <dgm:spPr/>
      <dgm:t>
        <a:bodyPr/>
        <a:lstStyle/>
        <a:p>
          <a:endParaRPr lang="en-US"/>
        </a:p>
      </dgm:t>
    </dgm:pt>
    <dgm:pt modelId="{4051450C-E909-429A-8CC0-3F6A42A2BFC1}">
      <dgm:prSet/>
      <dgm:spPr/>
      <dgm:t>
        <a:bodyPr/>
        <a:lstStyle/>
        <a:p>
          <a:r>
            <a:rPr lang="en-US" b="1" dirty="0"/>
            <a:t>Chart 3 Range Plot — </a:t>
          </a:r>
          <a:r>
            <a:rPr lang="en-US" b="1" dirty="0" err="1"/>
            <a:t>Statedistribution</a:t>
          </a:r>
          <a:r>
            <a:rPr lang="en-US" b="1" dirty="0"/>
            <a:t> ceilings and the ultimate compensation multiplier.</a:t>
          </a:r>
          <a:endParaRPr lang="en-US" dirty="0"/>
        </a:p>
      </dgm:t>
    </dgm:pt>
    <dgm:pt modelId="{4F6FAA75-2058-4CF3-8DA3-8972AF5AEEFF}" type="parTrans" cxnId="{C43250E4-C6B5-406E-9FF3-77190CA1CBC4}">
      <dgm:prSet/>
      <dgm:spPr/>
      <dgm:t>
        <a:bodyPr/>
        <a:lstStyle/>
        <a:p>
          <a:endParaRPr lang="en-US"/>
        </a:p>
      </dgm:t>
    </dgm:pt>
    <dgm:pt modelId="{76A96645-EBE7-4855-BB9B-DB130AA23A4D}" type="sibTrans" cxnId="{C43250E4-C6B5-406E-9FF3-77190CA1CBC4}">
      <dgm:prSet/>
      <dgm:spPr/>
      <dgm:t>
        <a:bodyPr/>
        <a:lstStyle/>
        <a:p>
          <a:endParaRPr lang="en-US"/>
        </a:p>
      </dgm:t>
    </dgm:pt>
    <dgm:pt modelId="{0933937D-677F-4BCD-8785-3D63D104689F}" type="pres">
      <dgm:prSet presAssocID="{7633DCE3-76FB-4763-BADB-7E0B676897F2}" presName="diagram" presStyleCnt="0">
        <dgm:presLayoutVars>
          <dgm:dir/>
          <dgm:resizeHandles val="exact"/>
        </dgm:presLayoutVars>
      </dgm:prSet>
      <dgm:spPr/>
    </dgm:pt>
    <dgm:pt modelId="{33764060-0E97-40DE-8807-09B074598153}" type="pres">
      <dgm:prSet presAssocID="{60E04618-B4ED-43BF-B1BE-967FC3496F4A}" presName="node" presStyleLbl="node1" presStyleIdx="0" presStyleCnt="4">
        <dgm:presLayoutVars>
          <dgm:bulletEnabled val="1"/>
        </dgm:presLayoutVars>
      </dgm:prSet>
      <dgm:spPr/>
    </dgm:pt>
    <dgm:pt modelId="{6F8A435E-897B-467D-8C8A-C5315A1E947F}" type="pres">
      <dgm:prSet presAssocID="{27E48ADB-DDD0-4D58-9B3A-AF03CCE36DEA}" presName="sibTrans" presStyleCnt="0"/>
      <dgm:spPr/>
    </dgm:pt>
    <dgm:pt modelId="{6DD9BC09-5125-446E-B501-50A2887C8596}" type="pres">
      <dgm:prSet presAssocID="{02B72DF9-1D40-47E2-84CB-3D6CBF09ED87}" presName="node" presStyleLbl="node1" presStyleIdx="1" presStyleCnt="4">
        <dgm:presLayoutVars>
          <dgm:bulletEnabled val="1"/>
        </dgm:presLayoutVars>
      </dgm:prSet>
      <dgm:spPr/>
    </dgm:pt>
    <dgm:pt modelId="{33E98733-1D15-4039-A501-D77A78C8827F}" type="pres">
      <dgm:prSet presAssocID="{ADE15A77-9F36-4AC2-85D4-E4EDB7C1334C}" presName="sibTrans" presStyleCnt="0"/>
      <dgm:spPr/>
    </dgm:pt>
    <dgm:pt modelId="{4E0A92B7-2148-4C6F-A3C6-0BC82C8DDFDE}" type="pres">
      <dgm:prSet presAssocID="{19BE991B-A70E-4396-9962-A416BF109311}" presName="node" presStyleLbl="node1" presStyleIdx="2" presStyleCnt="4">
        <dgm:presLayoutVars>
          <dgm:bulletEnabled val="1"/>
        </dgm:presLayoutVars>
      </dgm:prSet>
      <dgm:spPr/>
    </dgm:pt>
    <dgm:pt modelId="{53C826F9-D6C3-4FAB-B0AA-C425F256F4FD}" type="pres">
      <dgm:prSet presAssocID="{923C28F1-5909-4EA6-AEFE-85DAA9F29B8B}" presName="sibTrans" presStyleCnt="0"/>
      <dgm:spPr/>
    </dgm:pt>
    <dgm:pt modelId="{882E2E22-A670-4E16-AA2C-01FF6EBF1AA6}" type="pres">
      <dgm:prSet presAssocID="{4051450C-E909-429A-8CC0-3F6A42A2BFC1}" presName="node" presStyleLbl="node1" presStyleIdx="3" presStyleCnt="4">
        <dgm:presLayoutVars>
          <dgm:bulletEnabled val="1"/>
        </dgm:presLayoutVars>
      </dgm:prSet>
      <dgm:spPr/>
    </dgm:pt>
  </dgm:ptLst>
  <dgm:cxnLst>
    <dgm:cxn modelId="{51D98E07-6B5C-498F-A354-E1DEE22A796A}" type="presOf" srcId="{02B72DF9-1D40-47E2-84CB-3D6CBF09ED87}" destId="{6DD9BC09-5125-446E-B501-50A2887C8596}" srcOrd="0" destOrd="0" presId="urn:microsoft.com/office/officeart/2005/8/layout/default"/>
    <dgm:cxn modelId="{005E9E11-DDF2-4006-A2ED-FCBE0FF7624A}" type="presOf" srcId="{4051450C-E909-429A-8CC0-3F6A42A2BFC1}" destId="{882E2E22-A670-4E16-AA2C-01FF6EBF1AA6}" srcOrd="0" destOrd="0" presId="urn:microsoft.com/office/officeart/2005/8/layout/default"/>
    <dgm:cxn modelId="{31397663-6C67-4C4D-940B-DD9931BE804F}" srcId="{7633DCE3-76FB-4763-BADB-7E0B676897F2}" destId="{19BE991B-A70E-4396-9962-A416BF109311}" srcOrd="2" destOrd="0" parTransId="{F3D8B0B3-E289-4070-BE36-49B19D6345CE}" sibTransId="{923C28F1-5909-4EA6-AEFE-85DAA9F29B8B}"/>
    <dgm:cxn modelId="{F92B136A-47A2-4E20-B769-7E53FF281835}" type="presOf" srcId="{60E04618-B4ED-43BF-B1BE-967FC3496F4A}" destId="{33764060-0E97-40DE-8807-09B074598153}" srcOrd="0" destOrd="0" presId="urn:microsoft.com/office/officeart/2005/8/layout/default"/>
    <dgm:cxn modelId="{3A636B93-D2B5-4D96-A3FC-CA2C09B55324}" type="presOf" srcId="{7633DCE3-76FB-4763-BADB-7E0B676897F2}" destId="{0933937D-677F-4BCD-8785-3D63D104689F}" srcOrd="0" destOrd="0" presId="urn:microsoft.com/office/officeart/2005/8/layout/default"/>
    <dgm:cxn modelId="{27D55A9C-3E0F-4986-8852-7B56CC3943A6}" type="presOf" srcId="{19BE991B-A70E-4396-9962-A416BF109311}" destId="{4E0A92B7-2148-4C6F-A3C6-0BC82C8DDFDE}" srcOrd="0" destOrd="0" presId="urn:microsoft.com/office/officeart/2005/8/layout/default"/>
    <dgm:cxn modelId="{98D3A1A0-E9EB-4649-9B29-3A5A4C1DF945}" srcId="{7633DCE3-76FB-4763-BADB-7E0B676897F2}" destId="{60E04618-B4ED-43BF-B1BE-967FC3496F4A}" srcOrd="0" destOrd="0" parTransId="{F3F56AAF-E120-4706-8698-F372C4B934B7}" sibTransId="{27E48ADB-DDD0-4D58-9B3A-AF03CCE36DEA}"/>
    <dgm:cxn modelId="{36403FD5-F7D3-44CB-9FC5-798EE03B580B}" srcId="{7633DCE3-76FB-4763-BADB-7E0B676897F2}" destId="{02B72DF9-1D40-47E2-84CB-3D6CBF09ED87}" srcOrd="1" destOrd="0" parTransId="{6BA29827-C61E-4BD5-9CA4-82CFA58A5BA4}" sibTransId="{ADE15A77-9F36-4AC2-85D4-E4EDB7C1334C}"/>
    <dgm:cxn modelId="{C43250E4-C6B5-406E-9FF3-77190CA1CBC4}" srcId="{7633DCE3-76FB-4763-BADB-7E0B676897F2}" destId="{4051450C-E909-429A-8CC0-3F6A42A2BFC1}" srcOrd="3" destOrd="0" parTransId="{4F6FAA75-2058-4CF3-8DA3-8972AF5AEEFF}" sibTransId="{76A96645-EBE7-4855-BB9B-DB130AA23A4D}"/>
    <dgm:cxn modelId="{899D3FB6-A245-4558-95B6-B26E7704942D}" type="presParOf" srcId="{0933937D-677F-4BCD-8785-3D63D104689F}" destId="{33764060-0E97-40DE-8807-09B074598153}" srcOrd="0" destOrd="0" presId="urn:microsoft.com/office/officeart/2005/8/layout/default"/>
    <dgm:cxn modelId="{47C2A2ED-4B21-4C00-AB97-B0D2C57136A3}" type="presParOf" srcId="{0933937D-677F-4BCD-8785-3D63D104689F}" destId="{6F8A435E-897B-467D-8C8A-C5315A1E947F}" srcOrd="1" destOrd="0" presId="urn:microsoft.com/office/officeart/2005/8/layout/default"/>
    <dgm:cxn modelId="{A3F42F45-BFFD-49F3-BB08-C9DBEC4B0090}" type="presParOf" srcId="{0933937D-677F-4BCD-8785-3D63D104689F}" destId="{6DD9BC09-5125-446E-B501-50A2887C8596}" srcOrd="2" destOrd="0" presId="urn:microsoft.com/office/officeart/2005/8/layout/default"/>
    <dgm:cxn modelId="{8F4C1596-081B-4A9A-8372-1B056CB00F34}" type="presParOf" srcId="{0933937D-677F-4BCD-8785-3D63D104689F}" destId="{33E98733-1D15-4039-A501-D77A78C8827F}" srcOrd="3" destOrd="0" presId="urn:microsoft.com/office/officeart/2005/8/layout/default"/>
    <dgm:cxn modelId="{69D81230-F236-4A29-8C13-804A30BE7321}" type="presParOf" srcId="{0933937D-677F-4BCD-8785-3D63D104689F}" destId="{4E0A92B7-2148-4C6F-A3C6-0BC82C8DDFDE}" srcOrd="4" destOrd="0" presId="urn:microsoft.com/office/officeart/2005/8/layout/default"/>
    <dgm:cxn modelId="{392B600A-224E-4DA2-B72F-4C9AD761E813}" type="presParOf" srcId="{0933937D-677F-4BCD-8785-3D63D104689F}" destId="{53C826F9-D6C3-4FAB-B0AA-C425F256F4FD}" srcOrd="5" destOrd="0" presId="urn:microsoft.com/office/officeart/2005/8/layout/default"/>
    <dgm:cxn modelId="{D7E3A89C-1B98-4172-8386-E8988F6FDF54}" type="presParOf" srcId="{0933937D-677F-4BCD-8785-3D63D104689F}" destId="{882E2E22-A670-4E16-AA2C-01FF6EBF1AA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764060-0E97-40DE-8807-09B074598153}">
      <dsp:nvSpPr>
        <dsp:cNvPr id="0" name=""/>
        <dsp:cNvSpPr/>
      </dsp:nvSpPr>
      <dsp:spPr>
        <a:xfrm>
          <a:off x="884591" y="617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1 Bar Chart — Direct baseline salary comparison across technical specializations.</a:t>
          </a:r>
          <a:endParaRPr lang="en-US" sz="1700" kern="1200" dirty="0"/>
        </a:p>
      </dsp:txBody>
      <dsp:txXfrm>
        <a:off x="884591" y="617"/>
        <a:ext cx="2635407" cy="1581244"/>
      </dsp:txXfrm>
    </dsp:sp>
    <dsp:sp modelId="{6DD9BC09-5125-446E-B501-50A2887C8596}">
      <dsp:nvSpPr>
        <dsp:cNvPr id="0" name=""/>
        <dsp:cNvSpPr/>
      </dsp:nvSpPr>
      <dsp:spPr>
        <a:xfrm>
          <a:off x="3783539" y="617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2 Box Plots — Distributional analysis revealing the income ceilings by role.</a:t>
          </a:r>
          <a:endParaRPr lang="en-US" sz="1700" kern="1200" dirty="0"/>
        </a:p>
      </dsp:txBody>
      <dsp:txXfrm>
        <a:off x="3783539" y="617"/>
        <a:ext cx="2635407" cy="1581244"/>
      </dsp:txXfrm>
    </dsp:sp>
    <dsp:sp modelId="{4E0A92B7-2148-4C6F-A3C6-0BC82C8DDFDE}">
      <dsp:nvSpPr>
        <dsp:cNvPr id="0" name=""/>
        <dsp:cNvSpPr/>
      </dsp:nvSpPr>
      <dsp:spPr>
        <a:xfrm>
          <a:off x="884591" y="1845402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3 Dot Plot —geographic salary variation highlighting the top tech hubs.</a:t>
          </a:r>
          <a:endParaRPr lang="en-US" sz="1700" kern="1200" dirty="0"/>
        </a:p>
      </dsp:txBody>
      <dsp:txXfrm>
        <a:off x="884591" y="1845402"/>
        <a:ext cx="2635407" cy="1581244"/>
      </dsp:txXfrm>
    </dsp:sp>
    <dsp:sp modelId="{882E2E22-A670-4E16-AA2C-01FF6EBF1AA6}">
      <dsp:nvSpPr>
        <dsp:cNvPr id="0" name=""/>
        <dsp:cNvSpPr/>
      </dsp:nvSpPr>
      <dsp:spPr>
        <a:xfrm>
          <a:off x="3783539" y="1845402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3 Range Plot — </a:t>
          </a:r>
          <a:r>
            <a:rPr lang="en-US" sz="1700" b="1" kern="1200" dirty="0" err="1"/>
            <a:t>Statedistribution</a:t>
          </a:r>
          <a:r>
            <a:rPr lang="en-US" sz="1700" b="1" kern="1200" dirty="0"/>
            <a:t> ceilings and the ultimate compensation multiplier.</a:t>
          </a:r>
          <a:endParaRPr lang="en-US" sz="1700" kern="1200" dirty="0"/>
        </a:p>
      </dsp:txBody>
      <dsp:txXfrm>
        <a:off x="3783539" y="1845402"/>
        <a:ext cx="2635407" cy="15812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764060-0E97-40DE-8807-09B074598153}">
      <dsp:nvSpPr>
        <dsp:cNvPr id="0" name=""/>
        <dsp:cNvSpPr/>
      </dsp:nvSpPr>
      <dsp:spPr>
        <a:xfrm>
          <a:off x="884591" y="617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1 Bar Chart — Direct baseline salary comparison across technical specializations.</a:t>
          </a:r>
          <a:endParaRPr lang="en-US" sz="1700" kern="1200" dirty="0"/>
        </a:p>
      </dsp:txBody>
      <dsp:txXfrm>
        <a:off x="884591" y="617"/>
        <a:ext cx="2635407" cy="1581244"/>
      </dsp:txXfrm>
    </dsp:sp>
    <dsp:sp modelId="{6DD9BC09-5125-446E-B501-50A2887C8596}">
      <dsp:nvSpPr>
        <dsp:cNvPr id="0" name=""/>
        <dsp:cNvSpPr/>
      </dsp:nvSpPr>
      <dsp:spPr>
        <a:xfrm>
          <a:off x="3783539" y="617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2 Box Plots — Distributional analysis revealing the income ceilings by role.</a:t>
          </a:r>
          <a:endParaRPr lang="en-US" sz="1700" kern="1200" dirty="0"/>
        </a:p>
      </dsp:txBody>
      <dsp:txXfrm>
        <a:off x="3783539" y="617"/>
        <a:ext cx="2635407" cy="1581244"/>
      </dsp:txXfrm>
    </dsp:sp>
    <dsp:sp modelId="{4E0A92B7-2148-4C6F-A3C6-0BC82C8DDFDE}">
      <dsp:nvSpPr>
        <dsp:cNvPr id="0" name=""/>
        <dsp:cNvSpPr/>
      </dsp:nvSpPr>
      <dsp:spPr>
        <a:xfrm>
          <a:off x="884591" y="1845402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3 Dot Plot —geographic salary variation highlighting the top tech hubs.</a:t>
          </a:r>
          <a:endParaRPr lang="en-US" sz="1700" kern="1200" dirty="0"/>
        </a:p>
      </dsp:txBody>
      <dsp:txXfrm>
        <a:off x="884591" y="1845402"/>
        <a:ext cx="2635407" cy="1581244"/>
      </dsp:txXfrm>
    </dsp:sp>
    <dsp:sp modelId="{882E2E22-A670-4E16-AA2C-01FF6EBF1AA6}">
      <dsp:nvSpPr>
        <dsp:cNvPr id="0" name=""/>
        <dsp:cNvSpPr/>
      </dsp:nvSpPr>
      <dsp:spPr>
        <a:xfrm>
          <a:off x="3783539" y="1845402"/>
          <a:ext cx="2635407" cy="158124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Chart 3 Range Plot — </a:t>
          </a:r>
          <a:r>
            <a:rPr lang="en-US" sz="1700" b="1" kern="1200" dirty="0" err="1"/>
            <a:t>Statedistribution</a:t>
          </a:r>
          <a:r>
            <a:rPr lang="en-US" sz="1700" b="1" kern="1200" dirty="0"/>
            <a:t> ceilings and the ultimate compensation multiplier.</a:t>
          </a:r>
          <a:endParaRPr lang="en-US" sz="1700" kern="1200" dirty="0"/>
        </a:p>
      </dsp:txBody>
      <dsp:txXfrm>
        <a:off x="3783539" y="1845402"/>
        <a:ext cx="2635407" cy="15812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10/18/2026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10/18/2026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Story Development Focus: </a:t>
            </a:r>
          </a:p>
          <a:p>
            <a:r>
              <a:rPr lang="en-US" dirty="0"/>
              <a:t>Visual and Slide Messaging. By using Tufte's data-ink principles (removing spines/gridlines), red color attributes, and labeling, I was able to reduce cognitive load and ensure viewer amity and show salient information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selected a </a:t>
            </a:r>
            <a:r>
              <a:rPr lang="en-US" b="0" dirty="0"/>
              <a:t>Horizontal Bar Chart </a:t>
            </a:r>
            <a:r>
              <a:rPr lang="en-US" dirty="0"/>
              <a:t>because it is the most efficient visual for comparing the 3 categorical amounts. It allows the long role descriptions to stay readable without modification to the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7864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selected a box plot to visualize the variance and address it and a box plot reveals the hidden upper ceiling of the profession compared to the bar plot just showing baseline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219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385CB-B33D-234B-2066-431BA7859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A4734-3974-4052-6DEB-DC8B23D09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54A93-1DA3-58AB-E091-EDB7F89E9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 chose a Cleveland dot pot to maximize the data ink ratio. Dot plots emphasize relative position and draws the eye to the $25k wage gap difference, without the clutter of heavy bars.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E9F4B-E20C-44D4-40C1-19B1FC510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7723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12D7-D3DB-6B53-EC7A-A4C84AAF5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C2805-7EC1-7C86-89AB-A9843E73C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044E5-D239-565E-C9E2-B1AF77717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used a range plot. It acts as a minimalist box plot designed to show distribution spread while stripping away heavy borders, focusing the viewer on the $170k threshold only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3F64C-33AF-F8F3-82BE-052FF765E6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745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67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872644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092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06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605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7095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600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41075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1206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42670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36660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646835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203934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96941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673793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59514062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97738500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359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812784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2118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806329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669386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346753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FCF02-D35E-46A4-B7A1-1A2B81F8D932}" type="datetime1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84C074-BA98-B04C-6CCE-BF49DC9D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876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4774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0622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18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140289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5208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462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983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819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9178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679" r:id="rId33"/>
    <p:sldLayoutId id="2147483673" r:id="rId34"/>
    <p:sldLayoutId id="2147483674" r:id="rId35"/>
    <p:sldLayoutId id="2147483671" r:id="rId36"/>
    <p:sldLayoutId id="2147483675" r:id="rId37"/>
    <p:sldLayoutId id="2147483677" r:id="rId38"/>
    <p:sldLayoutId id="2147483678" r:id="rId39"/>
    <p:sldLayoutId id="2147483664" r:id="rId40"/>
    <p:sldLayoutId id="2147483663" r:id="rId4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9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9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9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9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9335" y="366014"/>
            <a:ext cx="10878226" cy="162331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b="0" kern="1200" spc="-100" baseline="0" dirty="0">
                <a:solidFill>
                  <a:schemeClr val="bg1"/>
                </a:solidFill>
              </a:rPr>
              <a:t>How Much Do Data Practitioners Get Paid?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567630" y="3519898"/>
            <a:ext cx="4748302" cy="1669051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Mei Qi Ng | FALL 2026 DATA 608: Story 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252C7D-02A2-E6CB-0F2E-1D6CEE0D0695}"/>
              </a:ext>
            </a:extLst>
          </p:cNvPr>
          <p:cNvSpPr txBox="1">
            <a:spLocks/>
          </p:cNvSpPr>
          <p:nvPr/>
        </p:nvSpPr>
        <p:spPr>
          <a:xfrm>
            <a:off x="812726" y="2321598"/>
            <a:ext cx="11071445" cy="60658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5000" b="0" kern="1200" spc="-10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1000"/>
              </a:spcBef>
            </a:pPr>
            <a:r>
              <a:rPr lang="en-US" sz="3000" kern="1200" dirty="0">
                <a:solidFill>
                  <a:schemeClr val="bg1"/>
                </a:solidFill>
              </a:rPr>
              <a:t>Tracing the Ceiling of  Technical and  Geographic Compensation</a:t>
            </a:r>
          </a:p>
        </p:txBody>
      </p:sp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C7DFF373-ACC1-11CF-3E2C-E23A65323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CCD3D5-373D-FE9D-D2A5-D8685DE04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26" y="2908139"/>
            <a:ext cx="5186665" cy="345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D4B9DA-B46B-D88E-5B99-E61AA220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865962" cy="13274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kern="1200" cap="all" spc="0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Mapping the Variables: Role and Geography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5400B-5C1B-8F49-8DC7-326D8A124547}"/>
              </a:ext>
            </a:extLst>
          </p:cNvPr>
          <p:cNvSpPr txBox="1"/>
          <p:nvPr/>
        </p:nvSpPr>
        <p:spPr>
          <a:xfrm>
            <a:off x="7715892" y="2465388"/>
            <a:ext cx="3533133" cy="342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en-US" dirty="0">
                <a:solidFill>
                  <a:schemeClr val="bg1"/>
                </a:solidFill>
              </a:rPr>
              <a:t>My goal is to make compensation ceilings and baseline disparities among data practitioners immediately visible without cognitive effort.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61F1B61-AAEA-E5A5-B157-50625EBC9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62E72F26-769A-F0F5-3F05-E7AC7347594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F3B03F69-08C9-1540-449D-705E9A322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0590786"/>
              </p:ext>
            </p:extLst>
          </p:nvPr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97226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EC654-1DCE-B597-E13A-968365793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368E085-E5C9-2536-26FC-AEF61059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C410E440-7F46-1BB9-890A-74971612F1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87961104-D300-05CB-0716-83CD051912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2355691"/>
              </p:ext>
            </p:extLst>
          </p:nvPr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CE78890-B220-9D3A-F081-F932F05871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336" y="334511"/>
            <a:ext cx="10302336" cy="4897831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5231F41-374A-5F35-649B-5AE859931743}"/>
              </a:ext>
            </a:extLst>
          </p:cNvPr>
          <p:cNvSpPr txBox="1">
            <a:spLocks/>
          </p:cNvSpPr>
          <p:nvPr/>
        </p:nvSpPr>
        <p:spPr>
          <a:xfrm>
            <a:off x="307829" y="5297770"/>
            <a:ext cx="11167385" cy="928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400" b="0" kern="1200" spc="-10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Core Message: </a:t>
            </a:r>
            <a:br>
              <a:rPr kumimoji="0" lang="en-US" sz="1800" b="0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</a:br>
            <a:r>
              <a:rPr kumimoji="0" lang="en-US" sz="1800" b="0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Baseline -  Compensation is controlled by technical leverage. Moving from analytics to Data science &amp; ML and Data engineering &amp; Architecture establishes a immediate $65k baseline increase.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F80562-B5B5-F933-06E6-C84F8F3B50F3}"/>
              </a:ext>
            </a:extLst>
          </p:cNvPr>
          <p:cNvSpPr txBox="1"/>
          <p:nvPr/>
        </p:nvSpPr>
        <p:spPr>
          <a:xfrm>
            <a:off x="289560" y="6326147"/>
            <a:ext cx="11612880" cy="530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Date Source: </a:t>
            </a:r>
            <a:r>
              <a:rPr lang="en-US" sz="1600" dirty="0">
                <a:solidFill>
                  <a:schemeClr val="bg1"/>
                </a:solidFill>
              </a:rPr>
              <a:t>Kaggle Global Data Science Salaries (2025 US Filter)</a:t>
            </a:r>
            <a:endParaRPr lang="en-US" sz="16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8760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0AE5-C40A-8184-4BBE-37BAA7F1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41EFFFA-81C7-4591-DC6C-A4750D01B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3B6DE376-0E70-B6B2-A881-629D7D69F27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6122A7A2-6351-5EC8-7BA7-E16409F529D7}"/>
              </a:ext>
            </a:extLst>
          </p:cNvPr>
          <p:cNvGraphicFramePr/>
          <p:nvPr/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0AC16C28-2534-2DE8-A430-84A3308DB3C5}"/>
              </a:ext>
            </a:extLst>
          </p:cNvPr>
          <p:cNvSpPr txBox="1">
            <a:spLocks/>
          </p:cNvSpPr>
          <p:nvPr/>
        </p:nvSpPr>
        <p:spPr>
          <a:xfrm>
            <a:off x="307829" y="5297770"/>
            <a:ext cx="11167385" cy="928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400" b="0" kern="1200" spc="-10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Core Message: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True Ceiling - Averages does not show true income potential. The highest earners in specialized technical roles push the ceiling well beyond $200k, creating huge compensation variation within the profession itself.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0F13AD-EA3B-35DD-0B80-C9A8285DE289}"/>
              </a:ext>
            </a:extLst>
          </p:cNvPr>
          <p:cNvSpPr txBox="1"/>
          <p:nvPr/>
        </p:nvSpPr>
        <p:spPr>
          <a:xfrm>
            <a:off x="289560" y="6326147"/>
            <a:ext cx="11612880" cy="530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Date Source: </a:t>
            </a:r>
            <a:r>
              <a:rPr lang="en-US" sz="1600" dirty="0">
                <a:solidFill>
                  <a:schemeClr val="bg1"/>
                </a:solidFill>
              </a:rPr>
              <a:t>Kaggle Global Data Science Salaries (2025 US Filter)</a:t>
            </a:r>
            <a:endParaRPr lang="en-US" sz="16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A70F2D-1AAA-FD6F-2868-7158A62365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786" y="115721"/>
            <a:ext cx="9967824" cy="518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84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9B18-5532-294F-0C8A-97F1847A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47CD964F-4C47-9D9A-3249-615D61D5C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 dirty="0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2E0E7DA9-D1C1-558F-E5F1-7E64629D21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CE97C84E-7291-D615-5806-67079CAF11F8}"/>
              </a:ext>
            </a:extLst>
          </p:cNvPr>
          <p:cNvGraphicFramePr/>
          <p:nvPr/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C7BAC02-124F-4E39-AB9F-6B629A0EE14D}"/>
              </a:ext>
            </a:extLst>
          </p:cNvPr>
          <p:cNvSpPr txBox="1">
            <a:spLocks/>
          </p:cNvSpPr>
          <p:nvPr/>
        </p:nvSpPr>
        <p:spPr>
          <a:xfrm>
            <a:off x="307829" y="5297770"/>
            <a:ext cx="11167385" cy="928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400" b="0" kern="1200" spc="-10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Core Message: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Geographic Multiplier – Job Role is only half the equation. Audited tax data reveals that relocating to a tier-one tech market like California, Massachusetts, or Washington acts as a geographical multiplier on base pay.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9C311F-64EF-4F48-ACFE-4FABE21D1173}"/>
              </a:ext>
            </a:extLst>
          </p:cNvPr>
          <p:cNvSpPr txBox="1"/>
          <p:nvPr/>
        </p:nvSpPr>
        <p:spPr>
          <a:xfrm>
            <a:off x="289560" y="6326147"/>
            <a:ext cx="11612880" cy="530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600" dirty="0">
                <a:solidFill>
                  <a:schemeClr val="bg1"/>
                </a:solidFill>
              </a:rPr>
              <a:t>Date Source: Source: US Bureau of Labor Statistics (BLS) OEWS State Data May 2025 (SOC 15-2051, 15-1243, 15-1211</a:t>
            </a:r>
            <a:endParaRPr lang="en-US" sz="16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7F03D7-CA84-19B3-E562-0EB0507B63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105" y="158301"/>
            <a:ext cx="9236241" cy="526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018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997B-5420-A691-1D4E-59BF150A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E430A6D-626B-9C73-F370-1C9F5238A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 dirty="0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0C720715-649A-0425-C096-9BFABC1156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21C1A1E8-68BD-79AD-529F-39FD758B4E35}"/>
              </a:ext>
            </a:extLst>
          </p:cNvPr>
          <p:cNvGraphicFramePr/>
          <p:nvPr/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562612E-613C-C919-E0DA-0BEF8455808D}"/>
              </a:ext>
            </a:extLst>
          </p:cNvPr>
          <p:cNvSpPr txBox="1">
            <a:spLocks/>
          </p:cNvSpPr>
          <p:nvPr/>
        </p:nvSpPr>
        <p:spPr>
          <a:xfrm>
            <a:off x="307829" y="5297770"/>
            <a:ext cx="11167385" cy="92842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400" b="0" kern="1200" spc="-100" baseline="0" dirty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Core Message: </a:t>
            </a:r>
            <a:br>
              <a:rPr kumimoji="0" lang="en-US" sz="1800" b="1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</a:br>
            <a:r>
              <a:rPr kumimoji="0" lang="en-US" sz="1800" i="0" u="none" strike="noStrike" kern="1200" cap="none" spc="-100" normalizeH="0" baseline="0" noProof="0" dirty="0">
                <a:ln>
                  <a:noFill/>
                </a:ln>
                <a:solidFill>
                  <a:srgbClr val="F0EDE6"/>
                </a:solidFill>
                <a:effectLst/>
                <a:uLnTx/>
                <a:uFillTx/>
                <a:latin typeface="Neue Haas Grotesk Text Pro"/>
                <a:ea typeface="+mj-ea"/>
                <a:cs typeface="+mj-cs"/>
              </a:rPr>
              <a:t>Ultimate Equation -  Max compensation requires securing a high-leverage data practitioner title and anchoring it to a tier-one market. In these elite hubs, the 75th percentile of base pay alone pushes past $170,000.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6010E6-A3D2-4EDD-CF14-766AF2682AF5}"/>
              </a:ext>
            </a:extLst>
          </p:cNvPr>
          <p:cNvSpPr txBox="1"/>
          <p:nvPr/>
        </p:nvSpPr>
        <p:spPr>
          <a:xfrm>
            <a:off x="289560" y="6326147"/>
            <a:ext cx="11612880" cy="530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600" dirty="0">
                <a:solidFill>
                  <a:schemeClr val="bg1"/>
                </a:solidFill>
              </a:rPr>
              <a:t>Date Source: Source: US Bureau of Labor Statistics (BLS) OEWS State Data May 2025 (SOC 15-2051, 15-1243, 15-1211</a:t>
            </a:r>
            <a:endParaRPr lang="en-US" sz="16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9C84F-EC6F-9D03-8869-980DB43D3D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360" y="237651"/>
            <a:ext cx="9620322" cy="506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35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C9D7-3569-AEFB-7209-11CD8CFB0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70BF97C5-7589-E72A-EFAB-9ACF74405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865962" cy="13274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Final ANSWER: how much do we actually get paid</a:t>
            </a:r>
            <a:endParaRPr lang="en-US" b="1" kern="1200" cap="all" spc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9092E-3E9C-C3D8-61CB-A7946D50003C}"/>
              </a:ext>
            </a:extLst>
          </p:cNvPr>
          <p:cNvSpPr txBox="1"/>
          <p:nvPr/>
        </p:nvSpPr>
        <p:spPr>
          <a:xfrm>
            <a:off x="7715892" y="2465388"/>
            <a:ext cx="3533133" cy="342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dirty="0">
                <a:solidFill>
                  <a:schemeClr val="bg1"/>
                </a:solidFill>
              </a:rPr>
              <a:t>Compensation for Data Practitioners cannot be accurately captured by a single national average. It is a compounding equation: </a:t>
            </a:r>
            <a:r>
              <a:rPr lang="en-US" b="1" dirty="0">
                <a:solidFill>
                  <a:schemeClr val="bg1"/>
                </a:solidFill>
              </a:rPr>
              <a:t>Technical Leverage + Geographic Anchoring = Maximum Income Potential.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5F2F4C3-038F-8158-6A6F-89C5040D5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E8965942-A68F-2FC0-FBE6-8B679EC3068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9584" y="6388837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graphicFrame>
        <p:nvGraphicFramePr>
          <p:cNvPr id="12" name="Title 1">
            <a:extLst>
              <a:ext uri="{FF2B5EF4-FFF2-40B4-BE49-F238E27FC236}">
                <a16:creationId xmlns:a16="http://schemas.microsoft.com/office/drawing/2014/main" id="{8B6D37A0-59F2-3886-E801-CDA397D08E5D}"/>
              </a:ext>
            </a:extLst>
          </p:cNvPr>
          <p:cNvGraphicFramePr/>
          <p:nvPr/>
        </p:nvGraphicFramePr>
        <p:xfrm>
          <a:off x="814302" y="2465535"/>
          <a:ext cx="7303538" cy="34272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1048491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</TotalTime>
  <Words>627</Words>
  <Application>Microsoft Office PowerPoint</Application>
  <PresentationFormat>Widescreen</PresentationFormat>
  <Paragraphs>51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Nova</vt:lpstr>
      <vt:lpstr>Calibri</vt:lpstr>
      <vt:lpstr>Neue Haas Grotesk Text Pro</vt:lpstr>
      <vt:lpstr>Dune</vt:lpstr>
      <vt:lpstr>How Much Do Data Practitioners Get Paid?</vt:lpstr>
      <vt:lpstr>Mapping the Variables: Role and Geography</vt:lpstr>
      <vt:lpstr>PowerPoint Presentation</vt:lpstr>
      <vt:lpstr>PowerPoint Presentation</vt:lpstr>
      <vt:lpstr>PowerPoint Presentation</vt:lpstr>
      <vt:lpstr>PowerPoint Presentation</vt:lpstr>
      <vt:lpstr>Final ANSWER: how much do we actually get paid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Maggie</dc:creator>
  <cp:lastModifiedBy>Maggie</cp:lastModifiedBy>
  <cp:revision>9</cp:revision>
  <dcterms:created xsi:type="dcterms:W3CDTF">2026-09-19T19:43:45Z</dcterms:created>
  <dcterms:modified xsi:type="dcterms:W3CDTF">2026-10-19T02:56:55Z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