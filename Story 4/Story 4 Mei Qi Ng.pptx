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4"/>
  </p:sldMasterIdLst>
  <p:notesMasterIdLst>
    <p:notesMasterId r:id="rId12"/>
  </p:notesMasterIdLst>
  <p:handoutMasterIdLst>
    <p:handoutMasterId r:id="rId13"/>
  </p:handoutMasterIdLst>
  <p:sldIdLst>
    <p:sldId id="342" r:id="rId5"/>
    <p:sldId id="379" r:id="rId6"/>
    <p:sldId id="381" r:id="rId7"/>
    <p:sldId id="383" r:id="rId8"/>
    <p:sldId id="384" r:id="rId9"/>
    <p:sldId id="385" r:id="rId10"/>
    <p:sldId id="3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3FBFE"/>
    <a:srgbClr val="000000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3791" autoAdjust="0"/>
  </p:normalViewPr>
  <p:slideViewPr>
    <p:cSldViewPr snapToGrid="0" snapToObjects="1" showGuides="1">
      <p:cViewPr varScale="1">
        <p:scale>
          <a:sx n="69" d="100"/>
          <a:sy n="69" d="100"/>
        </p:scale>
        <p:origin x="124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33DCE3-76FB-4763-BADB-7E0B676897F2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0E04618-B4ED-43BF-B1BE-967FC3496F4A}">
      <dgm:prSet/>
      <dgm:spPr/>
      <dgm:t>
        <a:bodyPr/>
        <a:lstStyle/>
        <a:p>
          <a:r>
            <a:rPr lang="en-US" b="1" dirty="0"/>
            <a:t>Chart 1 Bar charts</a:t>
          </a:r>
        </a:p>
        <a:p>
          <a:r>
            <a:rPr lang="en-US" b="1" dirty="0"/>
            <a:t> (Macro &amp; Micro) — </a:t>
          </a:r>
        </a:p>
        <a:p>
          <a:r>
            <a:rPr lang="en-US" b="1" dirty="0"/>
            <a:t>Direct baseline salary comparison across broad and specific  specializations</a:t>
          </a:r>
          <a:endParaRPr lang="en-US" dirty="0"/>
        </a:p>
      </dgm:t>
    </dgm:pt>
    <dgm:pt modelId="{F3F56AAF-E120-4706-8698-F372C4B934B7}" type="parTrans" cxnId="{98D3A1A0-E9EB-4649-9B29-3A5A4C1DF945}">
      <dgm:prSet/>
      <dgm:spPr/>
      <dgm:t>
        <a:bodyPr/>
        <a:lstStyle/>
        <a:p>
          <a:endParaRPr lang="en-US"/>
        </a:p>
      </dgm:t>
    </dgm:pt>
    <dgm:pt modelId="{27E48ADB-DDD0-4D58-9B3A-AF03CCE36DEA}" type="sibTrans" cxnId="{98D3A1A0-E9EB-4649-9B29-3A5A4C1DF945}">
      <dgm:prSet/>
      <dgm:spPr/>
      <dgm:t>
        <a:bodyPr/>
        <a:lstStyle/>
        <a:p>
          <a:endParaRPr lang="en-US"/>
        </a:p>
      </dgm:t>
    </dgm:pt>
    <dgm:pt modelId="{02B72DF9-1D40-47E2-84CB-3D6CBF09ED87}">
      <dgm:prSet/>
      <dgm:spPr/>
      <dgm:t>
        <a:bodyPr/>
        <a:lstStyle/>
        <a:p>
          <a:r>
            <a:rPr lang="en-US" b="1" dirty="0"/>
            <a:t>Chart 2 Box Plots  Distributional analysis revealing income ceilings by role</a:t>
          </a:r>
          <a:endParaRPr lang="en-US" dirty="0"/>
        </a:p>
      </dgm:t>
    </dgm:pt>
    <dgm:pt modelId="{6BA29827-C61E-4BD5-9CA4-82CFA58A5BA4}" type="parTrans" cxnId="{36403FD5-F7D3-44CB-9FC5-798EE03B580B}">
      <dgm:prSet/>
      <dgm:spPr/>
      <dgm:t>
        <a:bodyPr/>
        <a:lstStyle/>
        <a:p>
          <a:endParaRPr lang="en-US"/>
        </a:p>
      </dgm:t>
    </dgm:pt>
    <dgm:pt modelId="{ADE15A77-9F36-4AC2-85D4-E4EDB7C1334C}" type="sibTrans" cxnId="{36403FD5-F7D3-44CB-9FC5-798EE03B580B}">
      <dgm:prSet/>
      <dgm:spPr/>
      <dgm:t>
        <a:bodyPr/>
        <a:lstStyle/>
        <a:p>
          <a:endParaRPr lang="en-US"/>
        </a:p>
      </dgm:t>
    </dgm:pt>
    <dgm:pt modelId="{19BE991B-A70E-4396-9962-A416BF109311}">
      <dgm:prSet/>
      <dgm:spPr/>
      <dgm:t>
        <a:bodyPr/>
        <a:lstStyle/>
        <a:p>
          <a:r>
            <a:rPr lang="en-US" b="1" dirty="0"/>
            <a:t>Chart 3 Dot Plot</a:t>
          </a:r>
        </a:p>
        <a:p>
          <a:r>
            <a:rPr lang="en-US" b="1" dirty="0"/>
            <a:t>Geographic salary variation highlighting the top tech hubs</a:t>
          </a:r>
          <a:endParaRPr lang="en-US" dirty="0"/>
        </a:p>
      </dgm:t>
    </dgm:pt>
    <dgm:pt modelId="{F3D8B0B3-E289-4070-BE36-49B19D6345CE}" type="parTrans" cxnId="{31397663-6C67-4C4D-940B-DD9931BE804F}">
      <dgm:prSet/>
      <dgm:spPr/>
      <dgm:t>
        <a:bodyPr/>
        <a:lstStyle/>
        <a:p>
          <a:endParaRPr lang="en-US"/>
        </a:p>
      </dgm:t>
    </dgm:pt>
    <dgm:pt modelId="{923C28F1-5909-4EA6-AEFE-85DAA9F29B8B}" type="sibTrans" cxnId="{31397663-6C67-4C4D-940B-DD9931BE804F}">
      <dgm:prSet/>
      <dgm:spPr/>
      <dgm:t>
        <a:bodyPr/>
        <a:lstStyle/>
        <a:p>
          <a:endParaRPr lang="en-US"/>
        </a:p>
      </dgm:t>
    </dgm:pt>
    <dgm:pt modelId="{4051450C-E909-429A-8CC0-3F6A42A2BFC1}">
      <dgm:prSet/>
      <dgm:spPr/>
      <dgm:t>
        <a:bodyPr/>
        <a:lstStyle/>
        <a:p>
          <a:r>
            <a:rPr lang="en-US" b="1" dirty="0"/>
            <a:t>Chart 3 Range Plot </a:t>
          </a:r>
        </a:p>
        <a:p>
          <a:r>
            <a:rPr lang="en-US" b="1" dirty="0"/>
            <a:t> State distribution ceilings and the ultimate compensation multiplier</a:t>
          </a:r>
          <a:endParaRPr lang="en-US" dirty="0"/>
        </a:p>
      </dgm:t>
    </dgm:pt>
    <dgm:pt modelId="{4F6FAA75-2058-4CF3-8DA3-8972AF5AEEFF}" type="parTrans" cxnId="{C43250E4-C6B5-406E-9FF3-77190CA1CBC4}">
      <dgm:prSet/>
      <dgm:spPr/>
      <dgm:t>
        <a:bodyPr/>
        <a:lstStyle/>
        <a:p>
          <a:endParaRPr lang="en-US"/>
        </a:p>
      </dgm:t>
    </dgm:pt>
    <dgm:pt modelId="{76A96645-EBE7-4855-BB9B-DB130AA23A4D}" type="sibTrans" cxnId="{C43250E4-C6B5-406E-9FF3-77190CA1CBC4}">
      <dgm:prSet/>
      <dgm:spPr/>
      <dgm:t>
        <a:bodyPr/>
        <a:lstStyle/>
        <a:p>
          <a:endParaRPr lang="en-US"/>
        </a:p>
      </dgm:t>
    </dgm:pt>
    <dgm:pt modelId="{0933937D-677F-4BCD-8785-3D63D104689F}" type="pres">
      <dgm:prSet presAssocID="{7633DCE3-76FB-4763-BADB-7E0B676897F2}" presName="diagram" presStyleCnt="0">
        <dgm:presLayoutVars>
          <dgm:dir/>
          <dgm:resizeHandles val="exact"/>
        </dgm:presLayoutVars>
      </dgm:prSet>
      <dgm:spPr/>
    </dgm:pt>
    <dgm:pt modelId="{33764060-0E97-40DE-8807-09B074598153}" type="pres">
      <dgm:prSet presAssocID="{60E04618-B4ED-43BF-B1BE-967FC3496F4A}" presName="node" presStyleLbl="node1" presStyleIdx="0" presStyleCnt="4">
        <dgm:presLayoutVars>
          <dgm:bulletEnabled val="1"/>
        </dgm:presLayoutVars>
      </dgm:prSet>
      <dgm:spPr/>
    </dgm:pt>
    <dgm:pt modelId="{6F8A435E-897B-467D-8C8A-C5315A1E947F}" type="pres">
      <dgm:prSet presAssocID="{27E48ADB-DDD0-4D58-9B3A-AF03CCE36DEA}" presName="sibTrans" presStyleCnt="0"/>
      <dgm:spPr/>
    </dgm:pt>
    <dgm:pt modelId="{6DD9BC09-5125-446E-B501-50A2887C8596}" type="pres">
      <dgm:prSet presAssocID="{02B72DF9-1D40-47E2-84CB-3D6CBF09ED87}" presName="node" presStyleLbl="node1" presStyleIdx="1" presStyleCnt="4">
        <dgm:presLayoutVars>
          <dgm:bulletEnabled val="1"/>
        </dgm:presLayoutVars>
      </dgm:prSet>
      <dgm:spPr/>
    </dgm:pt>
    <dgm:pt modelId="{33E98733-1D15-4039-A501-D77A78C8827F}" type="pres">
      <dgm:prSet presAssocID="{ADE15A77-9F36-4AC2-85D4-E4EDB7C1334C}" presName="sibTrans" presStyleCnt="0"/>
      <dgm:spPr/>
    </dgm:pt>
    <dgm:pt modelId="{4E0A92B7-2148-4C6F-A3C6-0BC82C8DDFDE}" type="pres">
      <dgm:prSet presAssocID="{19BE991B-A70E-4396-9962-A416BF109311}" presName="node" presStyleLbl="node1" presStyleIdx="2" presStyleCnt="4">
        <dgm:presLayoutVars>
          <dgm:bulletEnabled val="1"/>
        </dgm:presLayoutVars>
      </dgm:prSet>
      <dgm:spPr/>
    </dgm:pt>
    <dgm:pt modelId="{53C826F9-D6C3-4FAB-B0AA-C425F256F4FD}" type="pres">
      <dgm:prSet presAssocID="{923C28F1-5909-4EA6-AEFE-85DAA9F29B8B}" presName="sibTrans" presStyleCnt="0"/>
      <dgm:spPr/>
    </dgm:pt>
    <dgm:pt modelId="{882E2E22-A670-4E16-AA2C-01FF6EBF1AA6}" type="pres">
      <dgm:prSet presAssocID="{4051450C-E909-429A-8CC0-3F6A42A2BFC1}" presName="node" presStyleLbl="node1" presStyleIdx="3" presStyleCnt="4" custLinFactNeighborX="1269" custLinFactNeighborY="39">
        <dgm:presLayoutVars>
          <dgm:bulletEnabled val="1"/>
        </dgm:presLayoutVars>
      </dgm:prSet>
      <dgm:spPr/>
    </dgm:pt>
  </dgm:ptLst>
  <dgm:cxnLst>
    <dgm:cxn modelId="{51D98E07-6B5C-498F-A354-E1DEE22A796A}" type="presOf" srcId="{02B72DF9-1D40-47E2-84CB-3D6CBF09ED87}" destId="{6DD9BC09-5125-446E-B501-50A2887C8596}" srcOrd="0" destOrd="0" presId="urn:microsoft.com/office/officeart/2005/8/layout/default"/>
    <dgm:cxn modelId="{005E9E11-DDF2-4006-A2ED-FCBE0FF7624A}" type="presOf" srcId="{4051450C-E909-429A-8CC0-3F6A42A2BFC1}" destId="{882E2E22-A670-4E16-AA2C-01FF6EBF1AA6}" srcOrd="0" destOrd="0" presId="urn:microsoft.com/office/officeart/2005/8/layout/default"/>
    <dgm:cxn modelId="{31397663-6C67-4C4D-940B-DD9931BE804F}" srcId="{7633DCE3-76FB-4763-BADB-7E0B676897F2}" destId="{19BE991B-A70E-4396-9962-A416BF109311}" srcOrd="2" destOrd="0" parTransId="{F3D8B0B3-E289-4070-BE36-49B19D6345CE}" sibTransId="{923C28F1-5909-4EA6-AEFE-85DAA9F29B8B}"/>
    <dgm:cxn modelId="{F92B136A-47A2-4E20-B769-7E53FF281835}" type="presOf" srcId="{60E04618-B4ED-43BF-B1BE-967FC3496F4A}" destId="{33764060-0E97-40DE-8807-09B074598153}" srcOrd="0" destOrd="0" presId="urn:microsoft.com/office/officeart/2005/8/layout/default"/>
    <dgm:cxn modelId="{3A636B93-D2B5-4D96-A3FC-CA2C09B55324}" type="presOf" srcId="{7633DCE3-76FB-4763-BADB-7E0B676897F2}" destId="{0933937D-677F-4BCD-8785-3D63D104689F}" srcOrd="0" destOrd="0" presId="urn:microsoft.com/office/officeart/2005/8/layout/default"/>
    <dgm:cxn modelId="{27D55A9C-3E0F-4986-8852-7B56CC3943A6}" type="presOf" srcId="{19BE991B-A70E-4396-9962-A416BF109311}" destId="{4E0A92B7-2148-4C6F-A3C6-0BC82C8DDFDE}" srcOrd="0" destOrd="0" presId="urn:microsoft.com/office/officeart/2005/8/layout/default"/>
    <dgm:cxn modelId="{98D3A1A0-E9EB-4649-9B29-3A5A4C1DF945}" srcId="{7633DCE3-76FB-4763-BADB-7E0B676897F2}" destId="{60E04618-B4ED-43BF-B1BE-967FC3496F4A}" srcOrd="0" destOrd="0" parTransId="{F3F56AAF-E120-4706-8698-F372C4B934B7}" sibTransId="{27E48ADB-DDD0-4D58-9B3A-AF03CCE36DEA}"/>
    <dgm:cxn modelId="{36403FD5-F7D3-44CB-9FC5-798EE03B580B}" srcId="{7633DCE3-76FB-4763-BADB-7E0B676897F2}" destId="{02B72DF9-1D40-47E2-84CB-3D6CBF09ED87}" srcOrd="1" destOrd="0" parTransId="{6BA29827-C61E-4BD5-9CA4-82CFA58A5BA4}" sibTransId="{ADE15A77-9F36-4AC2-85D4-E4EDB7C1334C}"/>
    <dgm:cxn modelId="{C43250E4-C6B5-406E-9FF3-77190CA1CBC4}" srcId="{7633DCE3-76FB-4763-BADB-7E0B676897F2}" destId="{4051450C-E909-429A-8CC0-3F6A42A2BFC1}" srcOrd="3" destOrd="0" parTransId="{4F6FAA75-2058-4CF3-8DA3-8972AF5AEEFF}" sibTransId="{76A96645-EBE7-4855-BB9B-DB130AA23A4D}"/>
    <dgm:cxn modelId="{899D3FB6-A245-4558-95B6-B26E7704942D}" type="presParOf" srcId="{0933937D-677F-4BCD-8785-3D63D104689F}" destId="{33764060-0E97-40DE-8807-09B074598153}" srcOrd="0" destOrd="0" presId="urn:microsoft.com/office/officeart/2005/8/layout/default"/>
    <dgm:cxn modelId="{47C2A2ED-4B21-4C00-AB97-B0D2C57136A3}" type="presParOf" srcId="{0933937D-677F-4BCD-8785-3D63D104689F}" destId="{6F8A435E-897B-467D-8C8A-C5315A1E947F}" srcOrd="1" destOrd="0" presId="urn:microsoft.com/office/officeart/2005/8/layout/default"/>
    <dgm:cxn modelId="{A3F42F45-BFFD-49F3-BB08-C9DBEC4B0090}" type="presParOf" srcId="{0933937D-677F-4BCD-8785-3D63D104689F}" destId="{6DD9BC09-5125-446E-B501-50A2887C8596}" srcOrd="2" destOrd="0" presId="urn:microsoft.com/office/officeart/2005/8/layout/default"/>
    <dgm:cxn modelId="{8F4C1596-081B-4A9A-8372-1B056CB00F34}" type="presParOf" srcId="{0933937D-677F-4BCD-8785-3D63D104689F}" destId="{33E98733-1D15-4039-A501-D77A78C8827F}" srcOrd="3" destOrd="0" presId="urn:microsoft.com/office/officeart/2005/8/layout/default"/>
    <dgm:cxn modelId="{69D81230-F236-4A29-8C13-804A30BE7321}" type="presParOf" srcId="{0933937D-677F-4BCD-8785-3D63D104689F}" destId="{4E0A92B7-2148-4C6F-A3C6-0BC82C8DDFDE}" srcOrd="4" destOrd="0" presId="urn:microsoft.com/office/officeart/2005/8/layout/default"/>
    <dgm:cxn modelId="{392B600A-224E-4DA2-B72F-4C9AD761E813}" type="presParOf" srcId="{0933937D-677F-4BCD-8785-3D63D104689F}" destId="{53C826F9-D6C3-4FAB-B0AA-C425F256F4FD}" srcOrd="5" destOrd="0" presId="urn:microsoft.com/office/officeart/2005/8/layout/default"/>
    <dgm:cxn modelId="{D7E3A89C-1B98-4172-8386-E8988F6FDF54}" type="presParOf" srcId="{0933937D-677F-4BCD-8785-3D63D104689F}" destId="{882E2E22-A670-4E16-AA2C-01FF6EBF1AA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33DCE3-76FB-4763-BADB-7E0B676897F2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33937D-677F-4BCD-8785-3D63D104689F}" type="pres">
      <dgm:prSet presAssocID="{7633DCE3-76FB-4763-BADB-7E0B676897F2}" presName="diagram" presStyleCnt="0">
        <dgm:presLayoutVars>
          <dgm:dir/>
          <dgm:resizeHandles val="exact"/>
        </dgm:presLayoutVars>
      </dgm:prSet>
      <dgm:spPr/>
    </dgm:pt>
  </dgm:ptLst>
  <dgm:cxnLst>
    <dgm:cxn modelId="{3A636B93-D2B5-4D96-A3FC-CA2C09B55324}" type="presOf" srcId="{7633DCE3-76FB-4763-BADB-7E0B676897F2}" destId="{0933937D-677F-4BCD-8785-3D63D104689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33DCE3-76FB-4763-BADB-7E0B676897F2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33937D-677F-4BCD-8785-3D63D104689F}" type="pres">
      <dgm:prSet presAssocID="{7633DCE3-76FB-4763-BADB-7E0B676897F2}" presName="diagram" presStyleCnt="0">
        <dgm:presLayoutVars>
          <dgm:dir/>
          <dgm:resizeHandles val="exact"/>
        </dgm:presLayoutVars>
      </dgm:prSet>
      <dgm:spPr/>
    </dgm:pt>
  </dgm:ptLst>
  <dgm:cxnLst>
    <dgm:cxn modelId="{3A636B93-D2B5-4D96-A3FC-CA2C09B55324}" type="presOf" srcId="{7633DCE3-76FB-4763-BADB-7E0B676897F2}" destId="{0933937D-677F-4BCD-8785-3D63D104689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33DCE3-76FB-4763-BADB-7E0B676897F2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33937D-677F-4BCD-8785-3D63D104689F}" type="pres">
      <dgm:prSet presAssocID="{7633DCE3-76FB-4763-BADB-7E0B676897F2}" presName="diagram" presStyleCnt="0">
        <dgm:presLayoutVars>
          <dgm:dir/>
          <dgm:resizeHandles val="exact"/>
        </dgm:presLayoutVars>
      </dgm:prSet>
      <dgm:spPr/>
    </dgm:pt>
  </dgm:ptLst>
  <dgm:cxnLst>
    <dgm:cxn modelId="{3A636B93-D2B5-4D96-A3FC-CA2C09B55324}" type="presOf" srcId="{7633DCE3-76FB-4763-BADB-7E0B676897F2}" destId="{0933937D-677F-4BCD-8785-3D63D104689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33DCE3-76FB-4763-BADB-7E0B676897F2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33937D-677F-4BCD-8785-3D63D104689F}" type="pres">
      <dgm:prSet presAssocID="{7633DCE3-76FB-4763-BADB-7E0B676897F2}" presName="diagram" presStyleCnt="0">
        <dgm:presLayoutVars>
          <dgm:dir/>
          <dgm:resizeHandles val="exact"/>
        </dgm:presLayoutVars>
      </dgm:prSet>
      <dgm:spPr/>
    </dgm:pt>
  </dgm:ptLst>
  <dgm:cxnLst>
    <dgm:cxn modelId="{3A636B93-D2B5-4D96-A3FC-CA2C09B55324}" type="presOf" srcId="{7633DCE3-76FB-4763-BADB-7E0B676897F2}" destId="{0933937D-677F-4BCD-8785-3D63D104689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33DCE3-76FB-4763-BADB-7E0B676897F2}" type="doc">
      <dgm:prSet loTypeId="urn:microsoft.com/office/officeart/2005/8/layout/vList3" loCatId="list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0E04618-B4ED-43BF-B1BE-967FC3496F4A}">
      <dgm:prSet/>
      <dgm:spPr/>
      <dgm:t>
        <a:bodyPr/>
        <a:lstStyle/>
        <a:p>
          <a:pPr>
            <a:buNone/>
          </a:pPr>
          <a:r>
            <a:rPr lang="en-US" b="1" dirty="0"/>
            <a:t>Specialization Floor:</a:t>
          </a:r>
          <a:r>
            <a:rPr lang="en-US" dirty="0"/>
            <a:t> Analytics serves as the baseline. Moving into higher macro-roles (Data Science/Engineering) adds $65k, driven by titles like </a:t>
          </a:r>
          <a:r>
            <a:rPr lang="en-US" i="1" dirty="0"/>
            <a:t>Data Architect</a:t>
          </a:r>
          <a:r>
            <a:rPr lang="en-US" dirty="0"/>
            <a:t> and </a:t>
          </a:r>
          <a:r>
            <a:rPr lang="en-US" dirty="0" err="1"/>
            <a:t>ML</a:t>
          </a:r>
          <a:r>
            <a:rPr lang="en-US" i="1" dirty="0" err="1"/>
            <a:t>Engineer</a:t>
          </a:r>
          <a:r>
            <a:rPr lang="en-US" dirty="0"/>
            <a:t> which push base averages past $</a:t>
          </a:r>
          <a:r>
            <a:rPr lang="en-US" b="1" dirty="0"/>
            <a:t>160,000</a:t>
          </a:r>
          <a:endParaRPr lang="en-US" b="1" dirty="0">
            <a:solidFill>
              <a:srgbClr val="FFFFFF"/>
            </a:solidFill>
          </a:endParaRPr>
        </a:p>
      </dgm:t>
    </dgm:pt>
    <dgm:pt modelId="{F3F56AAF-E120-4706-8698-F372C4B934B7}" type="parTrans" cxnId="{98D3A1A0-E9EB-4649-9B29-3A5A4C1DF945}">
      <dgm:prSet/>
      <dgm:spPr/>
      <dgm:t>
        <a:bodyPr/>
        <a:lstStyle/>
        <a:p>
          <a:endParaRPr lang="en-US"/>
        </a:p>
      </dgm:t>
    </dgm:pt>
    <dgm:pt modelId="{27E48ADB-DDD0-4D58-9B3A-AF03CCE36DEA}" type="sibTrans" cxnId="{98D3A1A0-E9EB-4649-9B29-3A5A4C1DF945}">
      <dgm:prSet/>
      <dgm:spPr/>
      <dgm:t>
        <a:bodyPr/>
        <a:lstStyle/>
        <a:p>
          <a:endParaRPr lang="en-US"/>
        </a:p>
      </dgm:t>
    </dgm:pt>
    <dgm:pt modelId="{02B72DF9-1D40-47E2-84CB-3D6CBF09ED87}">
      <dgm:prSet custT="1"/>
      <dgm:spPr/>
      <dgm:t>
        <a:bodyPr/>
        <a:lstStyle/>
        <a:p>
          <a:r>
            <a:rPr lang="en-US" sz="1800" b="1" dirty="0"/>
            <a:t>Geographic Multiplier:</a:t>
          </a:r>
          <a:r>
            <a:rPr lang="en-US" sz="1800" dirty="0"/>
            <a:t> Geography acts as a rigid multiplier. Audited government tax data proves that coastal hubs (California, Washington, Massachusetts) shift the entire baseline </a:t>
          </a:r>
          <a:r>
            <a:rPr lang="en-US" sz="1800" b="1" dirty="0"/>
            <a:t>$25,000+</a:t>
          </a:r>
          <a:r>
            <a:rPr lang="en-US" sz="1800" dirty="0"/>
            <a:t> above the national average</a:t>
          </a:r>
          <a:endParaRPr lang="en-US" sz="1800" dirty="0">
            <a:solidFill>
              <a:srgbClr val="FFFFFF"/>
            </a:solidFill>
          </a:endParaRPr>
        </a:p>
      </dgm:t>
    </dgm:pt>
    <dgm:pt modelId="{6BA29827-C61E-4BD5-9CA4-82CFA58A5BA4}" type="parTrans" cxnId="{36403FD5-F7D3-44CB-9FC5-798EE03B580B}">
      <dgm:prSet/>
      <dgm:spPr/>
      <dgm:t>
        <a:bodyPr/>
        <a:lstStyle/>
        <a:p>
          <a:endParaRPr lang="en-US"/>
        </a:p>
      </dgm:t>
    </dgm:pt>
    <dgm:pt modelId="{ADE15A77-9F36-4AC2-85D4-E4EDB7C1334C}" type="sibTrans" cxnId="{36403FD5-F7D3-44CB-9FC5-798EE03B580B}">
      <dgm:prSet/>
      <dgm:spPr/>
      <dgm:t>
        <a:bodyPr/>
        <a:lstStyle/>
        <a:p>
          <a:endParaRPr lang="en-US"/>
        </a:p>
      </dgm:t>
    </dgm:pt>
    <dgm:pt modelId="{19BE991B-A70E-4396-9962-A416BF109311}">
      <dgm:prSet custT="1"/>
      <dgm:spPr/>
      <dgm:t>
        <a:bodyPr/>
        <a:lstStyle/>
        <a:p>
          <a:r>
            <a:rPr lang="en-US" sz="1800" b="1" dirty="0"/>
            <a:t>Ceiling:</a:t>
          </a:r>
          <a:r>
            <a:rPr lang="en-US" sz="1800" dirty="0"/>
            <a:t> Averages hide the ceiling. High paid titles stacked within a top tier geographic market, the top 25% of practitioners break through the </a:t>
          </a:r>
          <a:r>
            <a:rPr lang="en-US" sz="1800" b="1" dirty="0"/>
            <a:t>$170,000 to $216,000</a:t>
          </a:r>
          <a:r>
            <a:rPr lang="en-US" sz="1800" dirty="0"/>
            <a:t> threshold in base pay alone</a:t>
          </a:r>
          <a:endParaRPr lang="en-US" sz="1800" dirty="0">
            <a:solidFill>
              <a:srgbClr val="FFFFFF"/>
            </a:solidFill>
          </a:endParaRPr>
        </a:p>
      </dgm:t>
    </dgm:pt>
    <dgm:pt modelId="{F3D8B0B3-E289-4070-BE36-49B19D6345CE}" type="parTrans" cxnId="{31397663-6C67-4C4D-940B-DD9931BE804F}">
      <dgm:prSet/>
      <dgm:spPr/>
      <dgm:t>
        <a:bodyPr/>
        <a:lstStyle/>
        <a:p>
          <a:endParaRPr lang="en-US"/>
        </a:p>
      </dgm:t>
    </dgm:pt>
    <dgm:pt modelId="{923C28F1-5909-4EA6-AEFE-85DAA9F29B8B}" type="sibTrans" cxnId="{31397663-6C67-4C4D-940B-DD9931BE804F}">
      <dgm:prSet/>
      <dgm:spPr/>
      <dgm:t>
        <a:bodyPr/>
        <a:lstStyle/>
        <a:p>
          <a:endParaRPr lang="en-US"/>
        </a:p>
      </dgm:t>
    </dgm:pt>
    <dgm:pt modelId="{0125AA5E-C713-4C0A-A29F-24D2122F8C95}" type="pres">
      <dgm:prSet presAssocID="{7633DCE3-76FB-4763-BADB-7E0B676897F2}" presName="linearFlow" presStyleCnt="0">
        <dgm:presLayoutVars>
          <dgm:dir/>
          <dgm:resizeHandles val="exact"/>
        </dgm:presLayoutVars>
      </dgm:prSet>
      <dgm:spPr/>
    </dgm:pt>
    <dgm:pt modelId="{6D9F2EE4-60A6-4178-9766-4EE9A04597C4}" type="pres">
      <dgm:prSet presAssocID="{60E04618-B4ED-43BF-B1BE-967FC3496F4A}" presName="composite" presStyleCnt="0"/>
      <dgm:spPr/>
    </dgm:pt>
    <dgm:pt modelId="{266E6180-6C81-4895-80FC-EF5058230934}" type="pres">
      <dgm:prSet presAssocID="{60E04618-B4ED-43BF-B1BE-967FC3496F4A}" presName="imgShp" presStyleLbl="fgImgPlace1" presStyleIdx="0" presStyleCnt="3" custScaleX="184252" custScaleY="167847" custLinFactX="-99991" custLinFactNeighborX="-100000" custLinFactNeighborY="16787"/>
      <dgm:spPr/>
    </dgm:pt>
    <dgm:pt modelId="{B6E23937-A962-4B3C-B42E-EB9206D00CA9}" type="pres">
      <dgm:prSet presAssocID="{60E04618-B4ED-43BF-B1BE-967FC3496F4A}" presName="txShp" presStyleLbl="node1" presStyleIdx="0" presStyleCnt="3" custScaleX="130657" custScaleY="226929">
        <dgm:presLayoutVars>
          <dgm:bulletEnabled val="1"/>
        </dgm:presLayoutVars>
      </dgm:prSet>
      <dgm:spPr/>
    </dgm:pt>
    <dgm:pt modelId="{4A13F035-02E0-404B-B16F-83350F375F93}" type="pres">
      <dgm:prSet presAssocID="{27E48ADB-DDD0-4D58-9B3A-AF03CCE36DEA}" presName="spacing" presStyleCnt="0"/>
      <dgm:spPr/>
    </dgm:pt>
    <dgm:pt modelId="{62D64323-2BCF-4675-BCD5-BAF409386060}" type="pres">
      <dgm:prSet presAssocID="{02B72DF9-1D40-47E2-84CB-3D6CBF09ED87}" presName="composite" presStyleCnt="0"/>
      <dgm:spPr/>
    </dgm:pt>
    <dgm:pt modelId="{8372195C-9932-4571-9241-3BD0E9226CD7}" type="pres">
      <dgm:prSet presAssocID="{02B72DF9-1D40-47E2-84CB-3D6CBF09ED87}" presName="imgShp" presStyleLbl="fgImgPlace1" presStyleIdx="1" presStyleCnt="3" custScaleX="187736" custScaleY="157814" custLinFactX="-99060" custLinFactNeighborX="-100000" custLinFactNeighborY="20190"/>
      <dgm:spPr/>
    </dgm:pt>
    <dgm:pt modelId="{12BA3B4B-527F-45AE-B6CD-064895B0BBCF}" type="pres">
      <dgm:prSet presAssocID="{02B72DF9-1D40-47E2-84CB-3D6CBF09ED87}" presName="txShp" presStyleLbl="node1" presStyleIdx="1" presStyleCnt="3" custScaleX="137096" custScaleY="271310">
        <dgm:presLayoutVars>
          <dgm:bulletEnabled val="1"/>
        </dgm:presLayoutVars>
      </dgm:prSet>
      <dgm:spPr/>
    </dgm:pt>
    <dgm:pt modelId="{DE496319-DFDE-456E-B2E0-4235B308753A}" type="pres">
      <dgm:prSet presAssocID="{ADE15A77-9F36-4AC2-85D4-E4EDB7C1334C}" presName="spacing" presStyleCnt="0"/>
      <dgm:spPr/>
    </dgm:pt>
    <dgm:pt modelId="{A8D63B1A-1E75-44CB-B8CF-26E7093136F3}" type="pres">
      <dgm:prSet presAssocID="{19BE991B-A70E-4396-9962-A416BF109311}" presName="composite" presStyleCnt="0"/>
      <dgm:spPr/>
    </dgm:pt>
    <dgm:pt modelId="{DA25E5E9-B0E4-4CAB-B20C-0D5119E00C2F}" type="pres">
      <dgm:prSet presAssocID="{19BE991B-A70E-4396-9962-A416BF109311}" presName="imgShp" presStyleLbl="fgImgPlace1" presStyleIdx="2" presStyleCnt="3" custScaleX="172586" custScaleY="161221" custLinFactX="-82264" custLinFactNeighborX="-100000" custLinFactNeighborY="-26543"/>
      <dgm:spPr/>
    </dgm:pt>
    <dgm:pt modelId="{625DC17F-875A-40A5-B324-FB856848FE2C}" type="pres">
      <dgm:prSet presAssocID="{19BE991B-A70E-4396-9962-A416BF109311}" presName="txShp" presStyleLbl="node1" presStyleIdx="2" presStyleCnt="3" custScaleX="128844" custScaleY="333892" custLinFactNeighborX="75" custLinFactNeighborY="387">
        <dgm:presLayoutVars>
          <dgm:bulletEnabled val="1"/>
        </dgm:presLayoutVars>
      </dgm:prSet>
      <dgm:spPr/>
    </dgm:pt>
  </dgm:ptLst>
  <dgm:cxnLst>
    <dgm:cxn modelId="{BD601E16-4858-4AD7-9AD8-ADC33AF1B8D0}" type="presOf" srcId="{19BE991B-A70E-4396-9962-A416BF109311}" destId="{625DC17F-875A-40A5-B324-FB856848FE2C}" srcOrd="0" destOrd="0" presId="urn:microsoft.com/office/officeart/2005/8/layout/vList3"/>
    <dgm:cxn modelId="{31397663-6C67-4C4D-940B-DD9931BE804F}" srcId="{7633DCE3-76FB-4763-BADB-7E0B676897F2}" destId="{19BE991B-A70E-4396-9962-A416BF109311}" srcOrd="2" destOrd="0" parTransId="{F3D8B0B3-E289-4070-BE36-49B19D6345CE}" sibTransId="{923C28F1-5909-4EA6-AEFE-85DAA9F29B8B}"/>
    <dgm:cxn modelId="{BF09EB69-E9F0-4F19-88FD-F1F26CA6DBD9}" type="presOf" srcId="{02B72DF9-1D40-47E2-84CB-3D6CBF09ED87}" destId="{12BA3B4B-527F-45AE-B6CD-064895B0BBCF}" srcOrd="0" destOrd="0" presId="urn:microsoft.com/office/officeart/2005/8/layout/vList3"/>
    <dgm:cxn modelId="{4C88237D-A19F-4CB7-BA6D-83D357E6E8E8}" type="presOf" srcId="{7633DCE3-76FB-4763-BADB-7E0B676897F2}" destId="{0125AA5E-C713-4C0A-A29F-24D2122F8C95}" srcOrd="0" destOrd="0" presId="urn:microsoft.com/office/officeart/2005/8/layout/vList3"/>
    <dgm:cxn modelId="{98D3A1A0-E9EB-4649-9B29-3A5A4C1DF945}" srcId="{7633DCE3-76FB-4763-BADB-7E0B676897F2}" destId="{60E04618-B4ED-43BF-B1BE-967FC3496F4A}" srcOrd="0" destOrd="0" parTransId="{F3F56AAF-E120-4706-8698-F372C4B934B7}" sibTransId="{27E48ADB-DDD0-4D58-9B3A-AF03CCE36DEA}"/>
    <dgm:cxn modelId="{2C4414AC-36A4-4314-8214-4B548DF4CBA6}" type="presOf" srcId="{60E04618-B4ED-43BF-B1BE-967FC3496F4A}" destId="{B6E23937-A962-4B3C-B42E-EB9206D00CA9}" srcOrd="0" destOrd="0" presId="urn:microsoft.com/office/officeart/2005/8/layout/vList3"/>
    <dgm:cxn modelId="{36403FD5-F7D3-44CB-9FC5-798EE03B580B}" srcId="{7633DCE3-76FB-4763-BADB-7E0B676897F2}" destId="{02B72DF9-1D40-47E2-84CB-3D6CBF09ED87}" srcOrd="1" destOrd="0" parTransId="{6BA29827-C61E-4BD5-9CA4-82CFA58A5BA4}" sibTransId="{ADE15A77-9F36-4AC2-85D4-E4EDB7C1334C}"/>
    <dgm:cxn modelId="{3BD28971-07E6-4FDD-89F2-EF746DB48BC4}" type="presParOf" srcId="{0125AA5E-C713-4C0A-A29F-24D2122F8C95}" destId="{6D9F2EE4-60A6-4178-9766-4EE9A04597C4}" srcOrd="0" destOrd="0" presId="urn:microsoft.com/office/officeart/2005/8/layout/vList3"/>
    <dgm:cxn modelId="{DF283501-5498-4241-A97A-A84AEF6722E0}" type="presParOf" srcId="{6D9F2EE4-60A6-4178-9766-4EE9A04597C4}" destId="{266E6180-6C81-4895-80FC-EF5058230934}" srcOrd="0" destOrd="0" presId="urn:microsoft.com/office/officeart/2005/8/layout/vList3"/>
    <dgm:cxn modelId="{882A39C9-D878-4F38-B867-2DB0A35AC82A}" type="presParOf" srcId="{6D9F2EE4-60A6-4178-9766-4EE9A04597C4}" destId="{B6E23937-A962-4B3C-B42E-EB9206D00CA9}" srcOrd="1" destOrd="0" presId="urn:microsoft.com/office/officeart/2005/8/layout/vList3"/>
    <dgm:cxn modelId="{93E044F2-A3AF-44E1-B1C6-6673197675B6}" type="presParOf" srcId="{0125AA5E-C713-4C0A-A29F-24D2122F8C95}" destId="{4A13F035-02E0-404B-B16F-83350F375F93}" srcOrd="1" destOrd="0" presId="urn:microsoft.com/office/officeart/2005/8/layout/vList3"/>
    <dgm:cxn modelId="{706EC123-DC67-4458-8AD1-D89959C262C0}" type="presParOf" srcId="{0125AA5E-C713-4C0A-A29F-24D2122F8C95}" destId="{62D64323-2BCF-4675-BCD5-BAF409386060}" srcOrd="2" destOrd="0" presId="urn:microsoft.com/office/officeart/2005/8/layout/vList3"/>
    <dgm:cxn modelId="{56D1EF58-C6C1-4EA0-AF08-F9105ACAB919}" type="presParOf" srcId="{62D64323-2BCF-4675-BCD5-BAF409386060}" destId="{8372195C-9932-4571-9241-3BD0E9226CD7}" srcOrd="0" destOrd="0" presId="urn:microsoft.com/office/officeart/2005/8/layout/vList3"/>
    <dgm:cxn modelId="{70E9BD95-8C96-4F65-9339-BA1C13090D8A}" type="presParOf" srcId="{62D64323-2BCF-4675-BCD5-BAF409386060}" destId="{12BA3B4B-527F-45AE-B6CD-064895B0BBCF}" srcOrd="1" destOrd="0" presId="urn:microsoft.com/office/officeart/2005/8/layout/vList3"/>
    <dgm:cxn modelId="{F60F27E3-98A4-444F-92E0-64283E773057}" type="presParOf" srcId="{0125AA5E-C713-4C0A-A29F-24D2122F8C95}" destId="{DE496319-DFDE-456E-B2E0-4235B308753A}" srcOrd="3" destOrd="0" presId="urn:microsoft.com/office/officeart/2005/8/layout/vList3"/>
    <dgm:cxn modelId="{350CEC1C-1975-48C9-A0E8-4A4FC30C0853}" type="presParOf" srcId="{0125AA5E-C713-4C0A-A29F-24D2122F8C95}" destId="{A8D63B1A-1E75-44CB-B8CF-26E7093136F3}" srcOrd="4" destOrd="0" presId="urn:microsoft.com/office/officeart/2005/8/layout/vList3"/>
    <dgm:cxn modelId="{5C97E7A1-48C6-48F3-93ED-1ED85F68D605}" type="presParOf" srcId="{A8D63B1A-1E75-44CB-B8CF-26E7093136F3}" destId="{DA25E5E9-B0E4-4CAB-B20C-0D5119E00C2F}" srcOrd="0" destOrd="0" presId="urn:microsoft.com/office/officeart/2005/8/layout/vList3"/>
    <dgm:cxn modelId="{DBD09A2B-A64C-4A26-A74E-DB2F65E94F6B}" type="presParOf" srcId="{A8D63B1A-1E75-44CB-B8CF-26E7093136F3}" destId="{625DC17F-875A-40A5-B324-FB856848FE2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64060-0E97-40DE-8807-09B074598153}">
      <dsp:nvSpPr>
        <dsp:cNvPr id="0" name=""/>
        <dsp:cNvSpPr/>
      </dsp:nvSpPr>
      <dsp:spPr>
        <a:xfrm>
          <a:off x="529703" y="1241"/>
          <a:ext cx="3244336" cy="1946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Chart 1 Bar charts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 (Macro &amp; Micro) —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Direct baseline salary comparison across broad and specific  specializations</a:t>
          </a:r>
          <a:endParaRPr lang="en-US" sz="1800" kern="1200" dirty="0"/>
        </a:p>
      </dsp:txBody>
      <dsp:txXfrm>
        <a:off x="529703" y="1241"/>
        <a:ext cx="3244336" cy="1946601"/>
      </dsp:txXfrm>
    </dsp:sp>
    <dsp:sp modelId="{6DD9BC09-5125-446E-B501-50A2887C8596}">
      <dsp:nvSpPr>
        <dsp:cNvPr id="0" name=""/>
        <dsp:cNvSpPr/>
      </dsp:nvSpPr>
      <dsp:spPr>
        <a:xfrm>
          <a:off x="4098472" y="1241"/>
          <a:ext cx="3244336" cy="1946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Chart 2 Box Plots  Distributional analysis revealing income ceilings by role</a:t>
          </a:r>
          <a:endParaRPr lang="en-US" sz="1800" kern="1200" dirty="0"/>
        </a:p>
      </dsp:txBody>
      <dsp:txXfrm>
        <a:off x="4098472" y="1241"/>
        <a:ext cx="3244336" cy="1946601"/>
      </dsp:txXfrm>
    </dsp:sp>
    <dsp:sp modelId="{4E0A92B7-2148-4C6F-A3C6-0BC82C8DDFDE}">
      <dsp:nvSpPr>
        <dsp:cNvPr id="0" name=""/>
        <dsp:cNvSpPr/>
      </dsp:nvSpPr>
      <dsp:spPr>
        <a:xfrm>
          <a:off x="529703" y="2272276"/>
          <a:ext cx="3244336" cy="1946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Chart 3 Dot Plot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Geographic salary variation highlighting the top tech hubs</a:t>
          </a:r>
          <a:endParaRPr lang="en-US" sz="1800" kern="1200" dirty="0"/>
        </a:p>
      </dsp:txBody>
      <dsp:txXfrm>
        <a:off x="529703" y="2272276"/>
        <a:ext cx="3244336" cy="1946601"/>
      </dsp:txXfrm>
    </dsp:sp>
    <dsp:sp modelId="{882E2E22-A670-4E16-AA2C-01FF6EBF1AA6}">
      <dsp:nvSpPr>
        <dsp:cNvPr id="0" name=""/>
        <dsp:cNvSpPr/>
      </dsp:nvSpPr>
      <dsp:spPr>
        <a:xfrm>
          <a:off x="4139643" y="2273035"/>
          <a:ext cx="3244336" cy="1946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Chart 3 Range Plot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 State distribution ceilings and the ultimate compensation multiplier</a:t>
          </a:r>
          <a:endParaRPr lang="en-US" sz="1800" kern="1200" dirty="0"/>
        </a:p>
      </dsp:txBody>
      <dsp:txXfrm>
        <a:off x="4139643" y="2273035"/>
        <a:ext cx="3244336" cy="19466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E23937-A962-4B3C-B42E-EB9206D00CA9}">
      <dsp:nvSpPr>
        <dsp:cNvPr id="0" name=""/>
        <dsp:cNvSpPr/>
      </dsp:nvSpPr>
      <dsp:spPr>
        <a:xfrm rot="10800000">
          <a:off x="546401" y="1780"/>
          <a:ext cx="7240874" cy="1044035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879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Specialization Floor:</a:t>
          </a:r>
          <a:r>
            <a:rPr lang="en-US" sz="1600" kern="1200" dirty="0"/>
            <a:t> Analytics serves as the baseline. Moving into higher macro-roles (Data Science/Engineering) adds $65k, driven by titles like </a:t>
          </a:r>
          <a:r>
            <a:rPr lang="en-US" sz="1600" i="1" kern="1200" dirty="0"/>
            <a:t>Data Architect</a:t>
          </a:r>
          <a:r>
            <a:rPr lang="en-US" sz="1600" kern="1200" dirty="0"/>
            <a:t> and </a:t>
          </a:r>
          <a:r>
            <a:rPr lang="en-US" sz="1600" kern="1200" dirty="0" err="1"/>
            <a:t>ML</a:t>
          </a:r>
          <a:r>
            <a:rPr lang="en-US" sz="1600" i="1" kern="1200" dirty="0" err="1"/>
            <a:t>Engineer</a:t>
          </a:r>
          <a:r>
            <a:rPr lang="en-US" sz="1600" kern="1200" dirty="0"/>
            <a:t> which push base averages past $</a:t>
          </a:r>
          <a:r>
            <a:rPr lang="en-US" sz="1600" b="1" kern="1200" dirty="0"/>
            <a:t>160,000</a:t>
          </a:r>
          <a:endParaRPr lang="en-US" sz="1600" b="1" kern="1200" dirty="0">
            <a:solidFill>
              <a:srgbClr val="FFFFFF"/>
            </a:solidFill>
          </a:endParaRPr>
        </a:p>
      </dsp:txBody>
      <dsp:txXfrm rot="10800000">
        <a:off x="807410" y="1780"/>
        <a:ext cx="6979865" cy="1044035"/>
      </dsp:txXfrm>
    </dsp:sp>
    <dsp:sp modelId="{266E6180-6C81-4895-80FC-EF5058230934}">
      <dsp:nvSpPr>
        <dsp:cNvPr id="0" name=""/>
        <dsp:cNvSpPr/>
      </dsp:nvSpPr>
      <dsp:spPr>
        <a:xfrm>
          <a:off x="51943" y="214922"/>
          <a:ext cx="847690" cy="772216"/>
        </a:xfrm>
        <a:prstGeom prst="ellipse">
          <a:avLst/>
        </a:prstGeom>
        <a:gradFill rotWithShape="0">
          <a:gsLst>
            <a:gs pos="0">
              <a:schemeClr val="accent2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12BA3B4B-527F-45AE-B6CD-064895B0BBCF}">
      <dsp:nvSpPr>
        <dsp:cNvPr id="0" name=""/>
        <dsp:cNvSpPr/>
      </dsp:nvSpPr>
      <dsp:spPr>
        <a:xfrm rot="10800000">
          <a:off x="367980" y="1183150"/>
          <a:ext cx="7597717" cy="1248220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87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Geographic Multiplier:</a:t>
          </a:r>
          <a:r>
            <a:rPr lang="en-US" sz="1800" kern="1200" dirty="0"/>
            <a:t> Geography acts as a rigid multiplier. Audited government tax data proves that coastal hubs (California, Washington, Massachusetts) shift the entire baseline </a:t>
          </a:r>
          <a:r>
            <a:rPr lang="en-US" sz="1800" b="1" kern="1200" dirty="0"/>
            <a:t>$25,000+</a:t>
          </a:r>
          <a:r>
            <a:rPr lang="en-US" sz="1800" kern="1200" dirty="0"/>
            <a:t> above the national average</a:t>
          </a:r>
          <a:endParaRPr lang="en-US" sz="1800" kern="1200" dirty="0">
            <a:solidFill>
              <a:srgbClr val="FFFFFF"/>
            </a:solidFill>
          </a:endParaRPr>
        </a:p>
      </dsp:txBody>
      <dsp:txXfrm rot="10800000">
        <a:off x="680035" y="1183150"/>
        <a:ext cx="7285662" cy="1248220"/>
      </dsp:txXfrm>
    </dsp:sp>
    <dsp:sp modelId="{8372195C-9932-4571-9241-3BD0E9226CD7}">
      <dsp:nvSpPr>
        <dsp:cNvPr id="0" name=""/>
        <dsp:cNvSpPr/>
      </dsp:nvSpPr>
      <dsp:spPr>
        <a:xfrm>
          <a:off x="48212" y="1537120"/>
          <a:ext cx="863719" cy="726057"/>
        </a:xfrm>
        <a:prstGeom prst="ellipse">
          <a:avLst/>
        </a:prstGeom>
        <a:gradFill rotWithShape="0">
          <a:gsLst>
            <a:gs pos="0">
              <a:schemeClr val="accent2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625DC17F-875A-40A5-B324-FB856848FE2C}">
      <dsp:nvSpPr>
        <dsp:cNvPr id="0" name=""/>
        <dsp:cNvSpPr/>
      </dsp:nvSpPr>
      <dsp:spPr>
        <a:xfrm rot="10800000">
          <a:off x="600795" y="2570486"/>
          <a:ext cx="7140400" cy="1536141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87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Ceiling:</a:t>
          </a:r>
          <a:r>
            <a:rPr lang="en-US" sz="1800" kern="1200" dirty="0"/>
            <a:t> Averages hide the ceiling. High paid titles stacked within a top tier geographic market, the top 25% of practitioners break through the </a:t>
          </a:r>
          <a:r>
            <a:rPr lang="en-US" sz="1800" b="1" kern="1200" dirty="0"/>
            <a:t>$170,000 to $216,000</a:t>
          </a:r>
          <a:r>
            <a:rPr lang="en-US" sz="1800" kern="1200" dirty="0"/>
            <a:t> threshold in base pay alone</a:t>
          </a:r>
          <a:endParaRPr lang="en-US" sz="1800" kern="1200" dirty="0">
            <a:solidFill>
              <a:srgbClr val="FFFFFF"/>
            </a:solidFill>
          </a:endParaRPr>
        </a:p>
      </dsp:txBody>
      <dsp:txXfrm rot="10800000">
        <a:off x="984830" y="2570486"/>
        <a:ext cx="6756365" cy="1536141"/>
      </dsp:txXfrm>
    </dsp:sp>
    <dsp:sp modelId="{DA25E5E9-B0E4-4CAB-B20C-0D5119E00C2F}">
      <dsp:nvSpPr>
        <dsp:cNvPr id="0" name=""/>
        <dsp:cNvSpPr/>
      </dsp:nvSpPr>
      <dsp:spPr>
        <a:xfrm>
          <a:off x="160336" y="2843793"/>
          <a:ext cx="794019" cy="741731"/>
        </a:xfrm>
        <a:prstGeom prst="ellipse">
          <a:avLst/>
        </a:prstGeom>
        <a:gradFill rotWithShape="0">
          <a:gsLst>
            <a:gs pos="0">
              <a:schemeClr val="accent2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Story Development Focus: </a:t>
            </a:r>
          </a:p>
          <a:p>
            <a:r>
              <a:rPr lang="en-US" dirty="0"/>
              <a:t>Visual and Slide Messaging. By using Tufte's data-ink principles (removing spines/gridlines), red color attributes, and labeling, I was able to reduce cognitive load and ensure viewer amity and show salient information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selected a </a:t>
            </a:r>
            <a:r>
              <a:rPr lang="en-US" b="0" dirty="0"/>
              <a:t>Horizontal Bar Chart </a:t>
            </a:r>
            <a:r>
              <a:rPr lang="en-US" dirty="0"/>
              <a:t>because it is the most efficient visual for comparing the 3 categorical amounts. It allows the long role descriptions to stay readable without modification to the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86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selected a box plot to visualize the variance and address it and a box plot reveals the hidden upper ceiling of the profession compared to the bar plot just showing baseline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219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385CB-B33D-234B-2066-431BA785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A4734-3974-4052-6DEB-DC8B23D09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54A93-1DA3-58AB-E091-EDB7F89E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chose a Cleveland dot pot to maximize the data ink ratio. Dot plots emphasize relative position and draws the eye to the $25k wage gap difference, without the clutter of heavy bars.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E9F4B-E20C-44D4-40C1-19B1FC510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772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12D7-D3DB-6B53-EC7A-A4C84AAF5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C2805-7EC1-7C86-89AB-A9843E73C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044E5-D239-565E-C9E2-B1AF77717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a range plot. It acts as a minimalist box plot designed to show distribution spread while stripping away heavy borders, focusing the viewer on the $170k threshold only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3F64C-33AF-F8F3-82BE-052FF765E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74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67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72644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09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06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605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09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600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41075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1206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42670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6660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646835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203934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96941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67379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951406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773850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26359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1278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2118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806329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69386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4675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4C074-BA98-B04C-6CCE-BF49DC9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76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4774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062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87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40289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5208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462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983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81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17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  <p:sldLayoutId id="2147483808" r:id="rId29"/>
    <p:sldLayoutId id="2147483809" r:id="rId30"/>
    <p:sldLayoutId id="2147483810" r:id="rId31"/>
    <p:sldLayoutId id="2147483811" r:id="rId32"/>
    <p:sldLayoutId id="2147483679" r:id="rId33"/>
    <p:sldLayoutId id="2147483673" r:id="rId34"/>
    <p:sldLayoutId id="2147483674" r:id="rId35"/>
    <p:sldLayoutId id="2147483671" r:id="rId36"/>
    <p:sldLayoutId id="2147483675" r:id="rId37"/>
    <p:sldLayoutId id="2147483677" r:id="rId38"/>
    <p:sldLayoutId id="2147483678" r:id="rId39"/>
    <p:sldLayoutId id="2147483664" r:id="rId40"/>
    <p:sldLayoutId id="2147483663" r:id="rId4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18.sv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35" y="366014"/>
            <a:ext cx="10878226" cy="16233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0" kern="1200" spc="-100" baseline="0" dirty="0">
                <a:solidFill>
                  <a:schemeClr val="bg1"/>
                </a:solidFill>
              </a:rPr>
              <a:t>How Much Do Data Practitioners Get Paid?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567630" y="3519898"/>
            <a:ext cx="4748302" cy="166905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Mei Qi Ng | FALL 2026 DATA 608: Story 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52C7D-02A2-E6CB-0F2E-1D6CEE0D0695}"/>
              </a:ext>
            </a:extLst>
          </p:cNvPr>
          <p:cNvSpPr txBox="1">
            <a:spLocks/>
          </p:cNvSpPr>
          <p:nvPr/>
        </p:nvSpPr>
        <p:spPr>
          <a:xfrm>
            <a:off x="812726" y="2321598"/>
            <a:ext cx="11071445" cy="6065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000" b="0" kern="1200" spc="-1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3000" kern="1200" dirty="0">
                <a:solidFill>
                  <a:schemeClr val="bg1"/>
                </a:solidFill>
              </a:rPr>
              <a:t>Tracing the Ceiling of  Technical and  Geographic Compensation</a:t>
            </a: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C7DFF373-ACC1-11CF-3E2C-E23A6532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CD3D5-373D-FE9D-D2A5-D8685DE0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26" y="2908139"/>
            <a:ext cx="5186665" cy="345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D4B9DA-B46B-D88E-5B99-E61AA220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133"/>
            <a:ext cx="10865962" cy="7961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Selection framework: Role  and Geography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5400B-5C1B-8F49-8DC7-326D8A124547}"/>
              </a:ext>
            </a:extLst>
          </p:cNvPr>
          <p:cNvSpPr txBox="1"/>
          <p:nvPr/>
        </p:nvSpPr>
        <p:spPr>
          <a:xfrm>
            <a:off x="733562" y="2629599"/>
            <a:ext cx="3111190" cy="3427412"/>
          </a:xfrm>
          <a:prstGeom prst="rect">
            <a:avLst/>
          </a:prstGeom>
          <a:ln>
            <a:solidFill>
              <a:srgbClr val="E3FBFE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</a:rPr>
              <a:t>My goal is to make compensation ceilings and baseline disparities among data practitioners immediately visible without cognitive effort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D61F1B61-AAEA-E5A5-B157-50625EBC9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62E72F26-769A-F0F5-3F05-E7AC734759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9584" y="6388837"/>
            <a:ext cx="457200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3B03F69-08C9-1540-449D-705E9A3220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10992"/>
              </p:ext>
            </p:extLst>
          </p:nvPr>
        </p:nvGraphicFramePr>
        <p:xfrm>
          <a:off x="3693310" y="2233246"/>
          <a:ext cx="7872512" cy="4220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22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EC654-1DCE-B597-E13A-96836579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368E085-E5C9-2536-26FC-AEF61059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410E440-7F46-1BB9-890A-74971612F1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9584" y="6388837"/>
            <a:ext cx="457200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87961104-D300-05CB-0716-83CD051912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355691"/>
              </p:ext>
            </p:extLst>
          </p:nvPr>
        </p:nvGraphicFramePr>
        <p:xfrm>
          <a:off x="814302" y="2465535"/>
          <a:ext cx="7303538" cy="3427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5231F41-374A-5F35-649B-5AE859931743}"/>
              </a:ext>
            </a:extLst>
          </p:cNvPr>
          <p:cNvSpPr txBox="1">
            <a:spLocks/>
          </p:cNvSpPr>
          <p:nvPr/>
        </p:nvSpPr>
        <p:spPr>
          <a:xfrm>
            <a:off x="307829" y="5129561"/>
            <a:ext cx="11167385" cy="1096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400" b="0" kern="1200" spc="-1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Core Message: </a:t>
            </a:r>
            <a:br>
              <a:rPr kumimoji="0" lang="en-US" sz="1800" b="0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</a:br>
            <a:r>
              <a:rPr lang="en-US" sz="1800" dirty="0">
                <a:solidFill>
                  <a:srgbClr val="F0EDE6"/>
                </a:solidFill>
                <a:latin typeface="Neue Haas Grotesk Text Pro"/>
              </a:rPr>
              <a:t>Deconstruct the </a:t>
            </a:r>
            <a:r>
              <a:rPr kumimoji="0" lang="en-US" sz="1800" b="0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Baseline -  Grouping titles shows that </a:t>
            </a:r>
            <a:r>
              <a:rPr lang="en-US" sz="1800" dirty="0">
                <a:solidFill>
                  <a:srgbClr val="F0EDE6"/>
                </a:solidFill>
                <a:latin typeface="Neue Haas Grotesk Text Pro"/>
              </a:rPr>
              <a:t>Data Science and Engineering  has a higher baseline increase over Analytics. Zooming in on the 10 most frequent specific titles proves this and reveals how the shift from “Data Analyst “ to “Data Architect” triggers massive salary jump in compensation</a:t>
            </a:r>
            <a:endParaRPr kumimoji="0" lang="en-US" sz="1800" b="0" i="0" u="none" strike="noStrike" kern="1200" cap="none" spc="-10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80562-B5B5-F933-06E6-C84F8F3B50F3}"/>
              </a:ext>
            </a:extLst>
          </p:cNvPr>
          <p:cNvSpPr txBox="1"/>
          <p:nvPr/>
        </p:nvSpPr>
        <p:spPr>
          <a:xfrm>
            <a:off x="289560" y="6326147"/>
            <a:ext cx="11612880" cy="53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Date Source: </a:t>
            </a:r>
            <a:r>
              <a:rPr lang="en-US" sz="1600" dirty="0">
                <a:solidFill>
                  <a:schemeClr val="bg1"/>
                </a:solidFill>
              </a:rPr>
              <a:t>Kaggle Global Data Science Salaries (2025 US Filter)</a:t>
            </a:r>
            <a:endParaRPr lang="en-US" sz="1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7439D4-CF95-6E85-5D2F-7B9D4B8A8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66677"/>
            <a:ext cx="12192000" cy="486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6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0AE5-C40A-8184-4BBE-37BAA7F1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341EFFFA-81C7-4591-DC6C-A4750D01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B6DE376-0E70-B6B2-A881-629D7D69F2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9584" y="6388837"/>
            <a:ext cx="457200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6122A7A2-6351-5EC8-7BA7-E16409F529D7}"/>
              </a:ext>
            </a:extLst>
          </p:cNvPr>
          <p:cNvGraphicFramePr/>
          <p:nvPr/>
        </p:nvGraphicFramePr>
        <p:xfrm>
          <a:off x="814302" y="2465535"/>
          <a:ext cx="7303538" cy="3427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C16C28-2534-2DE8-A430-84A3308DB3C5}"/>
              </a:ext>
            </a:extLst>
          </p:cNvPr>
          <p:cNvSpPr txBox="1">
            <a:spLocks/>
          </p:cNvSpPr>
          <p:nvPr/>
        </p:nvSpPr>
        <p:spPr>
          <a:xfrm>
            <a:off x="307829" y="5297770"/>
            <a:ext cx="11167385" cy="928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400" b="0" kern="1200" spc="-1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Core Message: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True Ceiling - Averages does not show true income potential. The highest earners in specialized technical roles push the ceiling well beyond $200k, creating huge compensation variation within the profession itself.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F13AD-EA3B-35DD-0B80-C9A8285DE289}"/>
              </a:ext>
            </a:extLst>
          </p:cNvPr>
          <p:cNvSpPr txBox="1"/>
          <p:nvPr/>
        </p:nvSpPr>
        <p:spPr>
          <a:xfrm>
            <a:off x="289560" y="6326147"/>
            <a:ext cx="11612880" cy="53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Date Source: </a:t>
            </a:r>
            <a:r>
              <a:rPr lang="en-US" sz="1600" dirty="0">
                <a:solidFill>
                  <a:schemeClr val="bg1"/>
                </a:solidFill>
              </a:rPr>
              <a:t>Kaggle Global Data Science Salaries (2025 US Filter)</a:t>
            </a:r>
            <a:endParaRPr lang="en-US" sz="1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A70F2D-1AAA-FD6F-2868-7158A62365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786" y="127988"/>
            <a:ext cx="10660912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4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9B18-5532-294F-0C8A-97F1847A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47CD964F-4C47-9D9A-3249-615D61D5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2E0E7DA9-D1C1-558F-E5F1-7E64629D21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9584" y="6388837"/>
            <a:ext cx="457200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CE97C84E-7291-D615-5806-67079CAF11F8}"/>
              </a:ext>
            </a:extLst>
          </p:cNvPr>
          <p:cNvGraphicFramePr/>
          <p:nvPr/>
        </p:nvGraphicFramePr>
        <p:xfrm>
          <a:off x="814302" y="2465535"/>
          <a:ext cx="7303538" cy="3427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C7BAC02-124F-4E39-AB9F-6B629A0EE14D}"/>
              </a:ext>
            </a:extLst>
          </p:cNvPr>
          <p:cNvSpPr txBox="1">
            <a:spLocks/>
          </p:cNvSpPr>
          <p:nvPr/>
        </p:nvSpPr>
        <p:spPr>
          <a:xfrm>
            <a:off x="307829" y="5297770"/>
            <a:ext cx="11167385" cy="928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400" b="0" kern="1200" spc="-1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Core Message: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Geographic Multiplier – Job Role is only half the equation. Audited tax data reveals that relocating to a tier-one tech market like California, Massachusetts, or Washington acts as a geographical multiplier on base pay.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9C311F-64EF-4F48-ACFE-4FABE21D1173}"/>
              </a:ext>
            </a:extLst>
          </p:cNvPr>
          <p:cNvSpPr txBox="1"/>
          <p:nvPr/>
        </p:nvSpPr>
        <p:spPr>
          <a:xfrm>
            <a:off x="289560" y="6326147"/>
            <a:ext cx="11612880" cy="53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Date Source: Source: US Bureau of Labor Statistics (BLS) OEWS State Data May 2025 (SOC 15-2051, 15-1243, 15-1211</a:t>
            </a:r>
            <a:endParaRPr lang="en-US" sz="1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F03D7-CA84-19B3-E562-0EB0507B63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105" y="158301"/>
            <a:ext cx="9236241" cy="52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1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997B-5420-A691-1D4E-59BF150A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1E430A6D-626B-9C73-F370-1C9F5238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C720715-649A-0425-C096-9BFABC1156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9584" y="6388837"/>
            <a:ext cx="457200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21C1A1E8-68BD-79AD-529F-39FD758B4E35}"/>
              </a:ext>
            </a:extLst>
          </p:cNvPr>
          <p:cNvGraphicFramePr/>
          <p:nvPr/>
        </p:nvGraphicFramePr>
        <p:xfrm>
          <a:off x="814302" y="2465535"/>
          <a:ext cx="7303538" cy="3427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562612E-613C-C919-E0DA-0BEF8455808D}"/>
              </a:ext>
            </a:extLst>
          </p:cNvPr>
          <p:cNvSpPr txBox="1">
            <a:spLocks/>
          </p:cNvSpPr>
          <p:nvPr/>
        </p:nvSpPr>
        <p:spPr>
          <a:xfrm>
            <a:off x="307829" y="5297770"/>
            <a:ext cx="11167385" cy="928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400" b="0" kern="1200" spc="-1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Core Message: </a:t>
            </a:r>
            <a:br>
              <a:rPr kumimoji="0" lang="en-US" sz="1800" b="1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</a:br>
            <a:r>
              <a:rPr kumimoji="0" lang="en-US" sz="1800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Ultimate Equation -  Max compensation requires securing a high leverage data practitioner title and anchoring it to </a:t>
            </a:r>
            <a:r>
              <a:rPr lang="en-US" sz="1800" dirty="0">
                <a:solidFill>
                  <a:srgbClr val="F0EDE6"/>
                </a:solidFill>
                <a:latin typeface="Neue Haas Grotesk Text Pro"/>
              </a:rPr>
              <a:t>the top</a:t>
            </a:r>
            <a:r>
              <a:rPr kumimoji="0" lang="en-US" sz="1800" i="0" u="none" strike="noStrike" kern="1200" cap="none" spc="-100" normalizeH="0" baseline="0" noProof="0" dirty="0">
                <a:ln>
                  <a:noFill/>
                </a:ln>
                <a:solidFill>
                  <a:srgbClr val="F0EDE6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 market. In these elite hubs, the 75th percentile of base pay alone pushes past $170,000.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010E6-A3D2-4EDD-CF14-766AF2682AF5}"/>
              </a:ext>
            </a:extLst>
          </p:cNvPr>
          <p:cNvSpPr txBox="1"/>
          <p:nvPr/>
        </p:nvSpPr>
        <p:spPr>
          <a:xfrm>
            <a:off x="289560" y="6326147"/>
            <a:ext cx="11612880" cy="53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Date Source: Source: US Bureau of Labor Statistics (BLS) OEWS State Data May 2025 (SOC 15-2051, 15-1243, 15-1211</a:t>
            </a:r>
            <a:endParaRPr lang="en-US" sz="1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9C84F-EC6F-9D03-8869-980DB43D3D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360" y="237651"/>
            <a:ext cx="9620322" cy="50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5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BC9D7-3569-AEFB-7209-11CD8CFB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BF97C5-7589-E72A-EFAB-9ACF74405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865962" cy="13274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Final ANSWER: how much do we actually get paid</a:t>
            </a:r>
            <a:endParaRPr lang="en-US" b="1" kern="1200" cap="all" spc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9092E-3E9C-C3D8-61CB-A7946D50003C}"/>
              </a:ext>
            </a:extLst>
          </p:cNvPr>
          <p:cNvSpPr txBox="1"/>
          <p:nvPr/>
        </p:nvSpPr>
        <p:spPr>
          <a:xfrm>
            <a:off x="379141" y="2281046"/>
            <a:ext cx="3479181" cy="3785217"/>
          </a:xfrm>
          <a:prstGeom prst="rect">
            <a:avLst/>
          </a:prstGeom>
          <a:ln>
            <a:solidFill>
              <a:srgbClr val="E3FBFE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</a:rPr>
              <a:t>ANSWER: </a:t>
            </a:r>
            <a:r>
              <a:rPr lang="en-US" sz="2000" dirty="0">
                <a:solidFill>
                  <a:schemeClr val="bg1"/>
                </a:solidFill>
              </a:rPr>
              <a:t>Compensation for Data Practitioners cannot be captured by a single national average. </a:t>
            </a:r>
          </a:p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</a:rPr>
              <a:t>It is a compounding equation: </a:t>
            </a:r>
            <a:r>
              <a:rPr lang="en-US" sz="2000" b="1" dirty="0">
                <a:solidFill>
                  <a:schemeClr val="bg1"/>
                </a:solidFill>
              </a:rPr>
              <a:t>Specific Technical Leverage + Geographic Anchoring = Maximum Income Potential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35F2F4C3-038F-8158-6A6F-89C5040D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E8965942-A68F-2FC0-FBE6-8B679EC306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9584" y="6388837"/>
            <a:ext cx="457200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8B6D37A0-59F2-3886-E801-CDA397D08E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8226420"/>
              </p:ext>
            </p:extLst>
          </p:nvPr>
        </p:nvGraphicFramePr>
        <p:xfrm>
          <a:off x="3858322" y="2620537"/>
          <a:ext cx="8333678" cy="4106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E58E19-AAD7-B72A-E9F6-798F3361A028}"/>
              </a:ext>
            </a:extLst>
          </p:cNvPr>
          <p:cNvSpPr txBox="1"/>
          <p:nvPr/>
        </p:nvSpPr>
        <p:spPr>
          <a:xfrm>
            <a:off x="6553333" y="1950401"/>
            <a:ext cx="3560694" cy="581813"/>
          </a:xfrm>
          <a:prstGeom prst="rect">
            <a:avLst/>
          </a:prstGeom>
          <a:ln>
            <a:solidFill>
              <a:srgbClr val="E3FBFE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bg1"/>
                </a:solidFill>
              </a:rPr>
              <a:t>Key Takeaways: </a:t>
            </a:r>
          </a:p>
        </p:txBody>
      </p:sp>
      <p:pic>
        <p:nvPicPr>
          <p:cNvPr id="6" name="Graphic 5" descr="Business Growth outline">
            <a:extLst>
              <a:ext uri="{FF2B5EF4-FFF2-40B4-BE49-F238E27FC236}">
                <a16:creationId xmlns:a16="http://schemas.microsoft.com/office/drawing/2014/main" id="{A263F0AE-1506-C72F-3C04-EC7C03014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0081" y="2923582"/>
            <a:ext cx="747132" cy="747132"/>
          </a:xfrm>
          <a:prstGeom prst="rect">
            <a:avLst/>
          </a:prstGeom>
        </p:spPr>
      </p:pic>
      <p:pic>
        <p:nvPicPr>
          <p:cNvPr id="8" name="Graphic 7" descr="Topography Map with solid fill">
            <a:extLst>
              <a:ext uri="{FF2B5EF4-FFF2-40B4-BE49-F238E27FC236}">
                <a16:creationId xmlns:a16="http://schemas.microsoft.com/office/drawing/2014/main" id="{A36A003C-88F8-D424-48B0-A0D053841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5327" y="4241903"/>
            <a:ext cx="557562" cy="557562"/>
          </a:xfrm>
          <a:prstGeom prst="rect">
            <a:avLst/>
          </a:prstGeom>
        </p:spPr>
      </p:pic>
      <p:pic>
        <p:nvPicPr>
          <p:cNvPr id="13" name="Graphic 12" descr="Cycle with people outline">
            <a:extLst>
              <a:ext uri="{FF2B5EF4-FFF2-40B4-BE49-F238E27FC236}">
                <a16:creationId xmlns:a16="http://schemas.microsoft.com/office/drawing/2014/main" id="{B0F94EA8-894E-C379-7BE6-9DB3D0A26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1693" y="53391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4849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</TotalTime>
  <Words>711</Words>
  <Application>Microsoft Office PowerPoint</Application>
  <PresentationFormat>Widescreen</PresentationFormat>
  <Paragraphs>56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Nova</vt:lpstr>
      <vt:lpstr>Calibri</vt:lpstr>
      <vt:lpstr>Neue Haas Grotesk Text Pro</vt:lpstr>
      <vt:lpstr>Dune</vt:lpstr>
      <vt:lpstr>How Much Do Data Practitioners Get Paid?</vt:lpstr>
      <vt:lpstr>Selection framework: Role  and Geography</vt:lpstr>
      <vt:lpstr>PowerPoint Presentation</vt:lpstr>
      <vt:lpstr>PowerPoint Presentation</vt:lpstr>
      <vt:lpstr>PowerPoint Presentation</vt:lpstr>
      <vt:lpstr>PowerPoint Presentation</vt:lpstr>
      <vt:lpstr>Final ANSWER: how much do we actually get paid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Maggie</dc:creator>
  <cp:lastModifiedBy>Maggie</cp:lastModifiedBy>
  <cp:revision>10</cp:revision>
  <dcterms:created xsi:type="dcterms:W3CDTF">2026-09-19T19:43:45Z</dcterms:created>
  <dcterms:modified xsi:type="dcterms:W3CDTF">2026-10-20T00:11:43Z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