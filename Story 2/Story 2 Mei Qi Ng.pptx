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handoutMasterIdLst>
    <p:handoutMasterId r:id="rId12"/>
  </p:handoutMasterIdLst>
  <p:sldIdLst>
    <p:sldId id="342" r:id="rId5"/>
    <p:sldId id="359" r:id="rId6"/>
    <p:sldId id="378" r:id="rId7"/>
    <p:sldId id="377" r:id="rId8"/>
    <p:sldId id="373" r:id="rId9"/>
    <p:sldId id="37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FBFE"/>
    <a:srgbClr val="000000"/>
    <a:srgbClr val="FFFFFF"/>
    <a:srgbClr val="05202E"/>
    <a:srgbClr val="0515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0A1B5D5-9B99-4C35-A422-299274C8766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86" autoAdjust="0"/>
    <p:restoredTop sz="83791" autoAdjust="0"/>
  </p:normalViewPr>
  <p:slideViewPr>
    <p:cSldViewPr snapToGrid="0" snapToObjects="1" showGuides="1">
      <p:cViewPr varScale="1">
        <p:scale>
          <a:sx n="69" d="100"/>
          <a:sy n="69" d="100"/>
        </p:scale>
        <p:origin x="1243"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459878-C319-6BF3-52DC-16FA4340A6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82FA7FC-DFAE-8499-5A3E-AD9648D7FC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8BFD57-AB0A-470B-A7AF-56DFE7B5174A}" type="datetimeFigureOut">
              <a:rPr lang="en-US" smtClean="0"/>
              <a:t>9/28/2026</a:t>
            </a:fld>
            <a:endParaRPr lang="en-US" dirty="0"/>
          </a:p>
        </p:txBody>
      </p:sp>
      <p:sp>
        <p:nvSpPr>
          <p:cNvPr id="4" name="Footer Placeholder 3">
            <a:extLst>
              <a:ext uri="{FF2B5EF4-FFF2-40B4-BE49-F238E27FC236}">
                <a16:creationId xmlns:a16="http://schemas.microsoft.com/office/drawing/2014/main" id="{4C9C12BB-9544-9F9A-BEDA-E71686438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D1E77E4-B9A2-A882-9240-3AE65EE217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61A1-75D9-49F7-83EB-F5872642613A}" type="slidenum">
              <a:rPr lang="en-US" smtClean="0"/>
              <a:t>‹#›</a:t>
            </a:fld>
            <a:endParaRPr lang="en-US" dirty="0"/>
          </a:p>
        </p:txBody>
      </p:sp>
    </p:spTree>
    <p:extLst>
      <p:ext uri="{BB962C8B-B14F-4D97-AF65-F5344CB8AC3E}">
        <p14:creationId xmlns:p14="http://schemas.microsoft.com/office/powerpoint/2010/main" val="147732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3339F-6CEA-4641-BE08-40DAFD6FCF25}" type="datetimeFigureOut">
              <a:rPr lang="en-US" smtClean="0"/>
              <a:t>9/28/2026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75CB5-5666-5049-9AE0-38EFD385C21E}" type="slidenum">
              <a:rPr lang="en-US" smtClean="0"/>
              <a:t>‹#›</a:t>
            </a:fld>
            <a:endParaRPr lang="en-US" dirty="0"/>
          </a:p>
        </p:txBody>
      </p:sp>
    </p:spTree>
    <p:extLst>
      <p:ext uri="{BB962C8B-B14F-4D97-AF65-F5344CB8AC3E}">
        <p14:creationId xmlns:p14="http://schemas.microsoft.com/office/powerpoint/2010/main" val="475562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Story Development Focus: </a:t>
            </a:r>
          </a:p>
          <a:p>
            <a:r>
              <a:rPr lang="en-US" dirty="0"/>
              <a:t>Highlighting/showcase a message. The slides trace the cause-and-effect chain reaction of the federal policy to prove the mandates are contradictory </a:t>
            </a:r>
          </a:p>
        </p:txBody>
      </p:sp>
      <p:sp>
        <p:nvSpPr>
          <p:cNvPr id="4" name="Slide Number Placeholder 3"/>
          <p:cNvSpPr>
            <a:spLocks noGrp="1"/>
          </p:cNvSpPr>
          <p:nvPr>
            <p:ph type="sldNum" sz="quarter" idx="5"/>
          </p:nvPr>
        </p:nvSpPr>
        <p:spPr/>
        <p:txBody>
          <a:bodyPr/>
          <a:lstStyle/>
          <a:p>
            <a:fld id="{DEF75CB5-5666-5049-9AE0-38EFD385C21E}" type="slidenum">
              <a:rPr lang="en-US" smtClean="0"/>
              <a:t>1</a:t>
            </a:fld>
            <a:endParaRPr lang="en-US" dirty="0"/>
          </a:p>
        </p:txBody>
      </p:sp>
    </p:spTree>
    <p:extLst>
      <p:ext uri="{BB962C8B-B14F-4D97-AF65-F5344CB8AC3E}">
        <p14:creationId xmlns:p14="http://schemas.microsoft.com/office/powerpoint/2010/main" val="1575999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A chronological line chart was selected to track the sequence of events over time; to prove rate hikes increase operating costs, which happened before the unemployment spike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F75CB5-5666-5049-9AE0-38EFD385C2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2673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mn-lt"/>
              </a:rPr>
              <a:t>A line chart was used to show the prolonged stability of the dual mandate over a 10 year timeline, revealing the exact point (“liftoff hike”) when the Fed felt the labor market had recovered </a:t>
            </a:r>
          </a:p>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3</a:t>
            </a:fld>
            <a:endParaRPr lang="en-US" dirty="0"/>
          </a:p>
        </p:txBody>
      </p:sp>
    </p:spTree>
    <p:extLst>
      <p:ext uri="{BB962C8B-B14F-4D97-AF65-F5344CB8AC3E}">
        <p14:creationId xmlns:p14="http://schemas.microsoft.com/office/powerpoint/2010/main" val="3765125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 line chart was selected to highlight the drastic visual intersection in 2022 where inflation overtakes rates, forcing an aggressive, delayed policy correction.</a:t>
            </a:r>
          </a:p>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4</a:t>
            </a:fld>
            <a:endParaRPr lang="en-US" dirty="0"/>
          </a:p>
        </p:txBody>
      </p:sp>
    </p:spTree>
    <p:extLst>
      <p:ext uri="{BB962C8B-B14F-4D97-AF65-F5344CB8AC3E}">
        <p14:creationId xmlns:p14="http://schemas.microsoft.com/office/powerpoint/2010/main" val="712487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bg1"/>
                </a:solidFill>
                <a:latin typeface="+mn-lt"/>
              </a:rPr>
              <a:t>A scatter plot was selected to remove the time axis and map the contradiction between inflation and unemployment ( The Phillips Curve). Color encoding replaces the need for a third axis to show Fed's reaction</a:t>
            </a:r>
          </a:p>
        </p:txBody>
      </p:sp>
      <p:sp>
        <p:nvSpPr>
          <p:cNvPr id="4" name="Slide Number Placeholder 3"/>
          <p:cNvSpPr>
            <a:spLocks noGrp="1"/>
          </p:cNvSpPr>
          <p:nvPr>
            <p:ph type="sldNum" sz="quarter" idx="5"/>
          </p:nvPr>
        </p:nvSpPr>
        <p:spPr/>
        <p:txBody>
          <a:bodyPr/>
          <a:lstStyle/>
          <a:p>
            <a:fld id="{DEF75CB5-5666-5049-9AE0-38EFD385C21E}" type="slidenum">
              <a:rPr lang="en-US" smtClean="0"/>
              <a:t>5</a:t>
            </a:fld>
            <a:endParaRPr lang="en-US" dirty="0"/>
          </a:p>
        </p:txBody>
      </p:sp>
    </p:spTree>
    <p:extLst>
      <p:ext uri="{BB962C8B-B14F-4D97-AF65-F5344CB8AC3E}">
        <p14:creationId xmlns:p14="http://schemas.microsoft.com/office/powerpoint/2010/main" val="18601641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6</a:t>
            </a:fld>
            <a:endParaRPr lang="en-US" dirty="0"/>
          </a:p>
        </p:txBody>
      </p:sp>
    </p:spTree>
    <p:extLst>
      <p:ext uri="{BB962C8B-B14F-4D97-AF65-F5344CB8AC3E}">
        <p14:creationId xmlns:p14="http://schemas.microsoft.com/office/powerpoint/2010/main" val="41678901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Subtitle">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0" y="304799"/>
            <a:ext cx="12191998" cy="3215641"/>
          </a:xfrm>
        </p:spPr>
        <p:txBody>
          <a:bodyPr lIns="0" rIns="0" bIns="0" anchor="b" anchorCtr="0">
            <a:noAutofit/>
          </a:bodyPr>
          <a:lstStyle>
            <a:lvl1pPr algn="ctr">
              <a:defRPr sz="6000" kern="1200" cap="all" spc="300" baseline="0">
                <a:solidFill>
                  <a:schemeClr val="accent3">
                    <a:lumMod val="75000"/>
                  </a:schemeClr>
                </a:solidFill>
              </a:defRPr>
            </a:lvl1pPr>
          </a:lstStyle>
          <a:p>
            <a:r>
              <a:rPr lang="en-US" dirty="0"/>
              <a:t>Click to add title</a:t>
            </a:r>
          </a:p>
        </p:txBody>
      </p:sp>
      <p:sp>
        <p:nvSpPr>
          <p:cNvPr id="12" name="Subtitle 2">
            <a:extLst>
              <a:ext uri="{FF2B5EF4-FFF2-40B4-BE49-F238E27FC236}">
                <a16:creationId xmlns:a16="http://schemas.microsoft.com/office/drawing/2014/main" id="{58B9CAE2-F3DD-D6D3-96C8-D947A4117752}"/>
              </a:ext>
            </a:extLst>
          </p:cNvPr>
          <p:cNvSpPr>
            <a:spLocks noGrp="1"/>
          </p:cNvSpPr>
          <p:nvPr>
            <p:ph type="subTitle" idx="1" hasCustomPrompt="1"/>
          </p:nvPr>
        </p:nvSpPr>
        <p:spPr>
          <a:xfrm>
            <a:off x="3" y="3670628"/>
            <a:ext cx="12191997" cy="2577772"/>
          </a:xfrm>
        </p:spPr>
        <p:txBody>
          <a:bodyPr>
            <a:noAutofit/>
          </a:bodyPr>
          <a:lstStyle>
            <a:lvl1pPr marL="0" indent="0" algn="ctr">
              <a:buNone/>
              <a:defRPr sz="3200" b="0" i="0" cap="all" spc="600" baseline="0">
                <a:solidFill>
                  <a:schemeClr val="accent3"/>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4119321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3" y="1821180"/>
            <a:ext cx="12191994" cy="3215641"/>
          </a:xfrm>
        </p:spPr>
        <p:txBody>
          <a:bodyPr lIns="0" rIns="0" bIns="0" anchor="ctr" anchorCtr="0">
            <a:noAutofit/>
          </a:bodyPr>
          <a:lstStyle>
            <a:lvl1pPr algn="ctr">
              <a:defRPr sz="6000" kern="1200" cap="all" spc="300" baseline="0">
                <a:solidFill>
                  <a:schemeClr val="accent3">
                    <a:lumMod val="75000"/>
                  </a:schemeClr>
                </a:solidFill>
              </a:defRPr>
            </a:lvl1pPr>
          </a:lstStyle>
          <a:p>
            <a:r>
              <a:rPr lang="en-US" dirty="0"/>
              <a:t>Click to add title</a:t>
            </a:r>
          </a:p>
        </p:txBody>
      </p:sp>
    </p:spTree>
    <p:extLst>
      <p:ext uri="{BB962C8B-B14F-4D97-AF65-F5344CB8AC3E}">
        <p14:creationId xmlns:p14="http://schemas.microsoft.com/office/powerpoint/2010/main" val="16350451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3">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A084D09-1B2D-4EE2-82A7-83196133B801}"/>
              </a:ext>
              <a:ext uri="{C183D7F6-B498-43B3-948B-1728B52AA6E4}">
                <adec:decorative xmlns:adec="http://schemas.microsoft.com/office/drawing/2017/decorative" val="1"/>
              </a:ext>
            </a:extLst>
          </p:cNvPr>
          <p:cNvGrpSpPr/>
          <p:nvPr userDrawn="1"/>
        </p:nvGrpSpPr>
        <p:grpSpPr>
          <a:xfrm>
            <a:off x="0" y="-6350"/>
            <a:ext cx="12185769" cy="6864350"/>
            <a:chOff x="0" y="-6350"/>
            <a:chExt cx="12185769" cy="6864350"/>
          </a:xfrm>
        </p:grpSpPr>
        <p:sp>
          <p:nvSpPr>
            <p:cNvPr id="4" name="Rectangle 3">
              <a:extLst>
                <a:ext uri="{FF2B5EF4-FFF2-40B4-BE49-F238E27FC236}">
                  <a16:creationId xmlns:a16="http://schemas.microsoft.com/office/drawing/2014/main" id="{53860AA6-1B14-DF89-B725-CC444E502028}"/>
                </a:ext>
                <a:ext uri="{C183D7F6-B498-43B3-948B-1728B52AA6E4}">
                  <adec:decorative xmlns:adec="http://schemas.microsoft.com/office/drawing/2017/decorative" val="1"/>
                </a:ext>
              </a:extLst>
            </p:cNvPr>
            <p:cNvSpPr/>
            <p:nvPr/>
          </p:nvSpPr>
          <p:spPr>
            <a:xfrm>
              <a:off x="0" y="-6350"/>
              <a:ext cx="6160393"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Content Placeholder 14">
              <a:extLst>
                <a:ext uri="{FF2B5EF4-FFF2-40B4-BE49-F238E27FC236}">
                  <a16:creationId xmlns:a16="http://schemas.microsoft.com/office/drawing/2014/main" id="{D172E570-D67F-4980-88C2-CF6560C1C193}"/>
                </a:ext>
                <a:ext uri="{C183D7F6-B498-43B3-948B-1728B52AA6E4}">
                  <adec:decorative xmlns:adec="http://schemas.microsoft.com/office/drawing/2017/decorative" val="1"/>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rot="5400000">
              <a:off x="5750267" y="410125"/>
              <a:ext cx="6845628" cy="6025377"/>
            </a:xfrm>
            <a:prstGeom prst="rect">
              <a:avLst/>
            </a:prstGeom>
          </p:spPr>
        </p:pic>
        <p:grpSp>
          <p:nvGrpSpPr>
            <p:cNvPr id="7" name="Group 6">
              <a:extLst>
                <a:ext uri="{FF2B5EF4-FFF2-40B4-BE49-F238E27FC236}">
                  <a16:creationId xmlns:a16="http://schemas.microsoft.com/office/drawing/2014/main" id="{AF90BF68-CF26-6705-CBFD-428BEB787EDB}"/>
                </a:ext>
              </a:extLst>
            </p:cNvPr>
            <p:cNvGrpSpPr/>
            <p:nvPr/>
          </p:nvGrpSpPr>
          <p:grpSpPr>
            <a:xfrm rot="10800000">
              <a:off x="5304704" y="259572"/>
              <a:ext cx="584267" cy="390181"/>
              <a:chOff x="1876516" y="596691"/>
              <a:chExt cx="584267" cy="390181"/>
            </a:xfrm>
          </p:grpSpPr>
          <p:sp>
            <p:nvSpPr>
              <p:cNvPr id="8" name="Oval 7">
                <a:extLst>
                  <a:ext uri="{FF2B5EF4-FFF2-40B4-BE49-F238E27FC236}">
                    <a16:creationId xmlns:a16="http://schemas.microsoft.com/office/drawing/2014/main" id="{1066F635-8DB9-B091-8467-D8F0327217F4}"/>
                  </a:ext>
                  <a:ext uri="{C183D7F6-B498-43B3-948B-1728B52AA6E4}">
                    <adec:decorative xmlns:adec="http://schemas.microsoft.com/office/drawing/2017/decorative" val="1"/>
                  </a:ext>
                </a:extLst>
              </p:cNvPr>
              <p:cNvSpPr/>
              <p:nvPr/>
            </p:nvSpPr>
            <p:spPr>
              <a:xfrm>
                <a:off x="1876516" y="842493"/>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Graphic 12">
                <a:extLst>
                  <a:ext uri="{FF2B5EF4-FFF2-40B4-BE49-F238E27FC236}">
                    <a16:creationId xmlns:a16="http://schemas.microsoft.com/office/drawing/2014/main" id="{882D2FD3-A05B-400C-6347-115486FFD943}"/>
                  </a:ext>
                  <a:ext uri="{C183D7F6-B498-43B3-948B-1728B52AA6E4}">
                    <adec:decorative xmlns:adec="http://schemas.microsoft.com/office/drawing/2017/decorative" val="1"/>
                  </a:ext>
                </a:extLst>
              </p:cNvPr>
              <p:cNvSpPr/>
              <p:nvPr/>
            </p:nvSpPr>
            <p:spPr>
              <a:xfrm>
                <a:off x="2360199" y="596691"/>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960459F4-C5B9-4070-46D1-2E7DA3EFBFC9}"/>
              </a:ext>
            </a:extLst>
          </p:cNvPr>
          <p:cNvSpPr>
            <a:spLocks noGrp="1"/>
          </p:cNvSpPr>
          <p:nvPr>
            <p:ph type="title"/>
          </p:nvPr>
        </p:nvSpPr>
        <p:spPr>
          <a:xfrm>
            <a:off x="838201" y="365125"/>
            <a:ext cx="4466502" cy="1936866"/>
          </a:xfrm>
        </p:spPr>
        <p:txBody>
          <a:bodyPr anchor="b"/>
          <a:lstStyle>
            <a:lvl1pPr>
              <a:defRPr sz="3200" cap="all" baseline="0">
                <a:solidFill>
                  <a:schemeClr val="accent3">
                    <a:lumMod val="75000"/>
                  </a:schemeClr>
                </a:solidFill>
              </a:defRPr>
            </a:lvl1pPr>
          </a:lstStyle>
          <a:p>
            <a:r>
              <a:rPr lang="en-US"/>
              <a:t>Click to edit Master title style</a:t>
            </a:r>
            <a:endParaRPr lang="en-US" dirty="0"/>
          </a:p>
        </p:txBody>
      </p:sp>
      <p:cxnSp>
        <p:nvCxnSpPr>
          <p:cNvPr id="5" name="Straight Connector 4">
            <a:extLst>
              <a:ext uri="{FF2B5EF4-FFF2-40B4-BE49-F238E27FC236}">
                <a16:creationId xmlns:a16="http://schemas.microsoft.com/office/drawing/2014/main" id="{34F613B1-323C-4C25-4526-1D3313A7161D}"/>
              </a:ext>
              <a:ext uri="{C183D7F6-B498-43B3-948B-1728B52AA6E4}">
                <adec:decorative xmlns:adec="http://schemas.microsoft.com/office/drawing/2017/decorative" val="1"/>
              </a:ext>
            </a:extLst>
          </p:cNvPr>
          <p:cNvCxnSpPr>
            <a:cxnSpLocks/>
          </p:cNvCxnSpPr>
          <p:nvPr userDrawn="1"/>
        </p:nvCxnSpPr>
        <p:spPr>
          <a:xfrm>
            <a:off x="835831" y="2620500"/>
            <a:ext cx="4471665"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2D2C2143-1936-BBDA-A6A8-40B6DBD16AED}"/>
              </a:ext>
            </a:extLst>
          </p:cNvPr>
          <p:cNvSpPr>
            <a:spLocks noGrp="1"/>
          </p:cNvSpPr>
          <p:nvPr>
            <p:ph sz="quarter" idx="10" hasCustomPrompt="1"/>
          </p:nvPr>
        </p:nvSpPr>
        <p:spPr>
          <a:xfrm>
            <a:off x="838201" y="3097848"/>
            <a:ext cx="4466504" cy="3405187"/>
          </a:xfrm>
        </p:spPr>
        <p:txBody>
          <a:bodyPr/>
          <a:lstStyle>
            <a:lvl1pPr>
              <a:lnSpc>
                <a:spcPct val="120000"/>
              </a:lnSpc>
              <a:spcBef>
                <a:spcPts val="1000"/>
              </a:spcBef>
              <a:spcAft>
                <a:spcPts val="600"/>
              </a:spcAft>
              <a:defRPr sz="1800">
                <a:solidFill>
                  <a:schemeClr val="bg1"/>
                </a:solidFill>
                <a:latin typeface="+mn-lt"/>
              </a:defRPr>
            </a:lvl1pPr>
            <a:lvl2pPr>
              <a:lnSpc>
                <a:spcPct val="120000"/>
              </a:lnSpc>
              <a:spcBef>
                <a:spcPts val="1000"/>
              </a:spcBef>
              <a:spcAft>
                <a:spcPts val="600"/>
              </a:spcAft>
              <a:defRPr sz="1600">
                <a:solidFill>
                  <a:schemeClr val="bg1"/>
                </a:solidFill>
                <a:latin typeface="+mn-lt"/>
              </a:defRPr>
            </a:lvl2pPr>
            <a:lvl3pPr>
              <a:lnSpc>
                <a:spcPct val="120000"/>
              </a:lnSpc>
              <a:spcBef>
                <a:spcPts val="1000"/>
              </a:spcBef>
              <a:spcAft>
                <a:spcPts val="600"/>
              </a:spcAft>
              <a:defRPr sz="1400">
                <a:solidFill>
                  <a:schemeClr val="bg1"/>
                </a:solidFill>
                <a:latin typeface="+mn-lt"/>
              </a:defRPr>
            </a:lvl3pPr>
            <a:lvl4pPr>
              <a:lnSpc>
                <a:spcPct val="120000"/>
              </a:lnSpc>
              <a:spcBef>
                <a:spcPts val="1000"/>
              </a:spcBef>
              <a:spcAft>
                <a:spcPts val="600"/>
              </a:spcAft>
              <a:defRPr sz="1200">
                <a:solidFill>
                  <a:schemeClr val="bg1"/>
                </a:solidFill>
                <a:latin typeface="+mn-lt"/>
              </a:defRPr>
            </a:lvl4pPr>
            <a:lvl5pPr>
              <a:lnSpc>
                <a:spcPct val="120000"/>
              </a:lnSpc>
              <a:spcBef>
                <a:spcPts val="1000"/>
              </a:spcBef>
              <a:spcAft>
                <a:spcPts val="600"/>
              </a:spcAft>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09040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2 column">
    <p:bg>
      <p:bgPr>
        <a:gradFill>
          <a:gsLst>
            <a:gs pos="100000">
              <a:schemeClr val="tx2"/>
            </a:gs>
            <a:gs pos="81000">
              <a:schemeClr val="accent6"/>
            </a:gs>
            <a:gs pos="31000">
              <a:srgbClr val="02090E"/>
            </a:gs>
            <a:gs pos="14000">
              <a:schemeClr val="accent4">
                <a:lumMod val="75000"/>
              </a:schemeClr>
            </a:gs>
            <a:gs pos="0">
              <a:schemeClr val="accent4"/>
            </a:gs>
          </a:gsLst>
          <a:lin ang="126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B5B81B-FCE8-FE9C-8F0A-6488B25F0F6A}"/>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21869" y="579120"/>
            <a:ext cx="11548261" cy="2733306"/>
          </a:xfrm>
        </p:spPr>
        <p:txBody>
          <a:bodyPr anchor="b">
            <a:noAutofit/>
          </a:bodyPr>
          <a:lstStyle>
            <a:lvl1pPr algn="ctr">
              <a:defRPr sz="3200" cap="all" spc="300" baseline="0"/>
            </a:lvl1pPr>
          </a:lstStyle>
          <a:p>
            <a:r>
              <a:rPr lang="en-US" dirty="0"/>
              <a:t>Click to add title</a:t>
            </a:r>
          </a:p>
        </p:txBody>
      </p:sp>
      <p:sp>
        <p:nvSpPr>
          <p:cNvPr id="7" name="Subtitle 2">
            <a:extLst>
              <a:ext uri="{FF2B5EF4-FFF2-40B4-BE49-F238E27FC236}">
                <a16:creationId xmlns:a16="http://schemas.microsoft.com/office/drawing/2014/main" id="{5F877C2F-8190-18D9-5D24-5BD7B05A29F8}"/>
              </a:ext>
            </a:extLst>
          </p:cNvPr>
          <p:cNvSpPr>
            <a:spLocks noGrp="1"/>
          </p:cNvSpPr>
          <p:nvPr>
            <p:ph type="subTitle" idx="1" hasCustomPrompt="1"/>
          </p:nvPr>
        </p:nvSpPr>
        <p:spPr>
          <a:xfrm>
            <a:off x="321868" y="3484615"/>
            <a:ext cx="11562303" cy="2387865"/>
          </a:xfrm>
        </p:spPr>
        <p:txBody>
          <a:bodyPr>
            <a:noAutofit/>
          </a:bodyPr>
          <a:lstStyle>
            <a:lvl1pPr marL="0" indent="0" algn="ctr">
              <a:buNone/>
              <a:defRPr sz="60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8686590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64209F-41AB-70E5-1B9E-7490900C59C9}"/>
              </a:ext>
              <a:ext uri="{C183D7F6-B498-43B3-948B-1728B52AA6E4}">
                <adec:decorative xmlns:adec="http://schemas.microsoft.com/office/drawing/2017/decorative" val="1"/>
              </a:ext>
            </a:extLst>
          </p:cNvPr>
          <p:cNvSpPr/>
          <p:nvPr userDrawn="1"/>
        </p:nvSpPr>
        <p:spPr>
          <a:xfrm>
            <a:off x="2" y="1"/>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032D3409-585B-54E2-1DCC-AC58804E4AE7}"/>
              </a:ext>
              <a:ext uri="{C183D7F6-B498-43B3-948B-1728B52AA6E4}">
                <adec:decorative xmlns:adec="http://schemas.microsoft.com/office/drawing/2017/decorative" val="1"/>
              </a:ext>
            </a:extLst>
          </p:cNvPr>
          <p:cNvSpPr/>
          <p:nvPr userDrawn="1"/>
        </p:nvSpPr>
        <p:spPr>
          <a:xfrm>
            <a:off x="1" y="-6350"/>
            <a:ext cx="6096000"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99891" y="511762"/>
            <a:ext cx="4960830" cy="2785158"/>
          </a:xfrm>
        </p:spPr>
        <p:txBody>
          <a:bodyPr anchor="b">
            <a:noAutofit/>
          </a:bodyPr>
          <a:lstStyle>
            <a:lvl1pPr algn="l">
              <a:defRPr sz="2400" cap="all" spc="300" baseline="0"/>
            </a:lvl1pPr>
          </a:lstStyle>
          <a:p>
            <a:r>
              <a:rPr lang="en-US" dirty="0"/>
              <a:t>Click to add title</a:t>
            </a:r>
          </a:p>
        </p:txBody>
      </p:sp>
      <p:sp>
        <p:nvSpPr>
          <p:cNvPr id="8" name="Subtitle 2">
            <a:extLst>
              <a:ext uri="{FF2B5EF4-FFF2-40B4-BE49-F238E27FC236}">
                <a16:creationId xmlns:a16="http://schemas.microsoft.com/office/drawing/2014/main" id="{E47B8A5C-E279-DB0B-E9D3-927417876125}"/>
              </a:ext>
            </a:extLst>
          </p:cNvPr>
          <p:cNvSpPr>
            <a:spLocks noGrp="1"/>
          </p:cNvSpPr>
          <p:nvPr>
            <p:ph type="subTitle" idx="1" hasCustomPrompt="1"/>
          </p:nvPr>
        </p:nvSpPr>
        <p:spPr>
          <a:xfrm>
            <a:off x="802640" y="3484615"/>
            <a:ext cx="4958081" cy="2387865"/>
          </a:xfrm>
        </p:spPr>
        <p:txBody>
          <a:bodyPr>
            <a:noAutofit/>
          </a:bodyPr>
          <a:lstStyle>
            <a:lvl1pPr marL="0" indent="0" algn="l">
              <a:buNone/>
              <a:defRPr sz="32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icture Placeholder 9">
            <a:extLst>
              <a:ext uri="{FF2B5EF4-FFF2-40B4-BE49-F238E27FC236}">
                <a16:creationId xmlns:a16="http://schemas.microsoft.com/office/drawing/2014/main" id="{D386C402-C5C5-2A54-C618-62673AD93CB4}"/>
              </a:ext>
            </a:extLst>
          </p:cNvPr>
          <p:cNvSpPr>
            <a:spLocks noGrp="1"/>
          </p:cNvSpPr>
          <p:nvPr>
            <p:ph type="pic" sz="quarter" idx="13"/>
          </p:nvPr>
        </p:nvSpPr>
        <p:spPr>
          <a:xfrm>
            <a:off x="6497638" y="336550"/>
            <a:ext cx="5322887" cy="6184900"/>
          </a:xfrm>
        </p:spPr>
        <p:txBody>
          <a:bodyPr/>
          <a:lstStyle>
            <a:lvl1pPr algn="ctr">
              <a:defRPr sz="2000"/>
            </a:lvl1pPr>
          </a:lstStyle>
          <a:p>
            <a:r>
              <a:rPr lang="en-US"/>
              <a:t>Click icon to add picture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683218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and 2 column">
    <p:bg>
      <p:bgPr>
        <a:gradFill>
          <a:gsLst>
            <a:gs pos="100000">
              <a:schemeClr val="tx2"/>
            </a:gs>
            <a:gs pos="79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pic>
        <p:nvPicPr>
          <p:cNvPr id="4" name="Content Placeholder 14">
            <a:extLst>
              <a:ext uri="{FF2B5EF4-FFF2-40B4-BE49-F238E27FC236}">
                <a16:creationId xmlns:a16="http://schemas.microsoft.com/office/drawing/2014/main" id="{318CE367-BBCB-F4AB-635F-4C9995EAE35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350"/>
            <a:ext cx="2356339" cy="6853863"/>
          </a:xfrm>
          <a:prstGeom prst="rect">
            <a:avLst/>
          </a:prstGeom>
        </p:spPr>
      </p:pic>
      <p:sp>
        <p:nvSpPr>
          <p:cNvPr id="5" name="Rectangle 4">
            <a:extLst>
              <a:ext uri="{FF2B5EF4-FFF2-40B4-BE49-F238E27FC236}">
                <a16:creationId xmlns:a16="http://schemas.microsoft.com/office/drawing/2014/main" id="{5CE3FBBA-81E2-31F1-EF51-02706B5B5C0A}"/>
              </a:ext>
              <a:ext uri="{C183D7F6-B498-43B3-948B-1728B52AA6E4}">
                <adec:decorative xmlns:adec="http://schemas.microsoft.com/office/drawing/2017/decorative" val="1"/>
              </a:ext>
            </a:extLst>
          </p:cNvPr>
          <p:cNvSpPr/>
          <p:nvPr userDrawn="1"/>
        </p:nvSpPr>
        <p:spPr>
          <a:xfrm>
            <a:off x="2356339" y="-6350"/>
            <a:ext cx="983180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6" name="Straight Connector 5">
            <a:extLst>
              <a:ext uri="{FF2B5EF4-FFF2-40B4-BE49-F238E27FC236}">
                <a16:creationId xmlns:a16="http://schemas.microsoft.com/office/drawing/2014/main" id="{9AD3746D-3CD1-FFA5-0019-AD0C588B1924}"/>
              </a:ext>
              <a:ext uri="{C183D7F6-B498-43B3-948B-1728B52AA6E4}">
                <adec:decorative xmlns:adec="http://schemas.microsoft.com/office/drawing/2017/decorative" val="1"/>
              </a:ext>
            </a:extLst>
          </p:cNvPr>
          <p:cNvCxnSpPr>
            <a:cxnSpLocks/>
          </p:cNvCxnSpPr>
          <p:nvPr userDrawn="1"/>
        </p:nvCxnSpPr>
        <p:spPr>
          <a:xfrm>
            <a:off x="3305669" y="2002443"/>
            <a:ext cx="7922116"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305669" y="113097"/>
            <a:ext cx="7420819" cy="16563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3" name="Content Placeholder 12">
            <a:extLst>
              <a:ext uri="{FF2B5EF4-FFF2-40B4-BE49-F238E27FC236}">
                <a16:creationId xmlns:a16="http://schemas.microsoft.com/office/drawing/2014/main" id="{B9624CF4-7769-4663-3361-39136F5E20C8}"/>
              </a:ext>
            </a:extLst>
          </p:cNvPr>
          <p:cNvSpPr>
            <a:spLocks noGrp="1"/>
          </p:cNvSpPr>
          <p:nvPr>
            <p:ph sz="quarter" idx="31" hasCustomPrompt="1"/>
          </p:nvPr>
        </p:nvSpPr>
        <p:spPr>
          <a:xfrm>
            <a:off x="3305669" y="2470150"/>
            <a:ext cx="7420819" cy="3676649"/>
          </a:xfrm>
        </p:spPr>
        <p:txBody>
          <a:bodyPr/>
          <a:lstStyle>
            <a:lvl1pPr marL="285750" indent="-285750">
              <a:lnSpc>
                <a:spcPct val="120000"/>
              </a:lnSpc>
              <a:spcBef>
                <a:spcPts val="1000"/>
              </a:spcBef>
              <a:spcAft>
                <a:spcPts val="600"/>
              </a:spcAft>
              <a:buClr>
                <a:schemeClr val="accent3"/>
              </a:buClr>
              <a:buFont typeface="Arial" panose="020B0604020202020204" pitchFamily="34" charset="0"/>
              <a:buChar char="•"/>
              <a:defRPr sz="1800">
                <a:solidFill>
                  <a:schemeClr val="bg1"/>
                </a:solidFill>
                <a:latin typeface="+mn-lt"/>
              </a:defRPr>
            </a:lvl1pPr>
            <a:lvl2pPr marL="800100" indent="-342900">
              <a:lnSpc>
                <a:spcPct val="120000"/>
              </a:lnSpc>
              <a:spcBef>
                <a:spcPts val="1000"/>
              </a:spcBef>
              <a:spcAft>
                <a:spcPts val="600"/>
              </a:spcAft>
              <a:buClr>
                <a:schemeClr val="accent3"/>
              </a:buClr>
              <a:buFont typeface="Arial" panose="020B0604020202020204" pitchFamily="34" charset="0"/>
              <a:buChar char="•"/>
              <a:defRPr sz="1600">
                <a:solidFill>
                  <a:schemeClr val="bg1"/>
                </a:solidFill>
                <a:latin typeface="+mn-lt"/>
              </a:defRPr>
            </a:lvl2pPr>
            <a:lvl3pPr marL="1257300" indent="-342900">
              <a:lnSpc>
                <a:spcPct val="120000"/>
              </a:lnSpc>
              <a:spcBef>
                <a:spcPts val="1000"/>
              </a:spcBef>
              <a:spcAft>
                <a:spcPts val="600"/>
              </a:spcAft>
              <a:buClr>
                <a:schemeClr val="accent3"/>
              </a:buClr>
              <a:buFont typeface="Arial" panose="020B0604020202020204" pitchFamily="34" charset="0"/>
              <a:buChar char="•"/>
              <a:defRPr sz="1400">
                <a:solidFill>
                  <a:schemeClr val="bg1"/>
                </a:solidFill>
                <a:latin typeface="+mn-lt"/>
              </a:defRPr>
            </a:lvl3pPr>
            <a:lvl4pPr marL="16573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4pPr>
            <a:lvl5pPr marL="21145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0280267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361F2FA-20C7-5447-C138-CE2CA1867FE7}"/>
              </a:ext>
              <a:ext uri="{C183D7F6-B498-43B3-948B-1728B52AA6E4}">
                <adec:decorative xmlns:adec="http://schemas.microsoft.com/office/drawing/2017/decorative" val="1"/>
              </a:ext>
            </a:extLst>
          </p:cNvPr>
          <p:cNvGrpSpPr/>
          <p:nvPr userDrawn="1"/>
        </p:nvGrpSpPr>
        <p:grpSpPr>
          <a:xfrm>
            <a:off x="3" y="2"/>
            <a:ext cx="12191997" cy="6857998"/>
            <a:chOff x="3" y="2"/>
            <a:chExt cx="12191997" cy="6857998"/>
          </a:xfrm>
        </p:grpSpPr>
        <p:sp>
          <p:nvSpPr>
            <p:cNvPr id="21" name="Rectangle 20">
              <a:extLst>
                <a:ext uri="{FF2B5EF4-FFF2-40B4-BE49-F238E27FC236}">
                  <a16:creationId xmlns:a16="http://schemas.microsoft.com/office/drawing/2014/main" id="{DFEDD626-82E4-71C6-25F1-CDA46B7B3F39}"/>
                </a:ext>
              </a:extLst>
            </p:cNvPr>
            <p:cNvSpPr/>
            <p:nvPr/>
          </p:nvSpPr>
          <p:spPr>
            <a:xfrm>
              <a:off x="3" y="2"/>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CDC952AF-CE06-54F7-CB4A-1722F90AC3DF}"/>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 y="2"/>
              <a:ext cx="12191994" cy="6857996"/>
            </a:xfrm>
            <a:prstGeom prst="rect">
              <a:avLst/>
            </a:prstGeom>
          </p:spPr>
        </p:pic>
        <p:grpSp>
          <p:nvGrpSpPr>
            <p:cNvPr id="11" name="Group 10">
              <a:extLst>
                <a:ext uri="{FF2B5EF4-FFF2-40B4-BE49-F238E27FC236}">
                  <a16:creationId xmlns:a16="http://schemas.microsoft.com/office/drawing/2014/main" id="{6E6EDFF3-843B-AAE9-DB73-423142606F52}"/>
                </a:ext>
              </a:extLst>
            </p:cNvPr>
            <p:cNvGrpSpPr/>
            <p:nvPr/>
          </p:nvGrpSpPr>
          <p:grpSpPr>
            <a:xfrm rot="5400000">
              <a:off x="1645776" y="1222395"/>
              <a:ext cx="431603" cy="412684"/>
              <a:chOff x="1870859" y="869908"/>
              <a:chExt cx="431603" cy="412684"/>
            </a:xfrm>
          </p:grpSpPr>
          <p:sp>
            <p:nvSpPr>
              <p:cNvPr id="12" name="Graphic 15">
                <a:extLst>
                  <a:ext uri="{FF2B5EF4-FFF2-40B4-BE49-F238E27FC236}">
                    <a16:creationId xmlns:a16="http://schemas.microsoft.com/office/drawing/2014/main" id="{312F4F85-6C79-201D-E20D-64CD4728E4C8}"/>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01D71DAD-ECC6-A850-88E4-A4EDCF494A24}"/>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14" name="Group 13">
              <a:extLst>
                <a:ext uri="{FF2B5EF4-FFF2-40B4-BE49-F238E27FC236}">
                  <a16:creationId xmlns:a16="http://schemas.microsoft.com/office/drawing/2014/main" id="{C632CC6D-6024-2368-8EBA-4B7A2D6428BC}"/>
                </a:ext>
              </a:extLst>
            </p:cNvPr>
            <p:cNvGrpSpPr/>
            <p:nvPr/>
          </p:nvGrpSpPr>
          <p:grpSpPr>
            <a:xfrm rot="20626702">
              <a:off x="10248169" y="5448942"/>
              <a:ext cx="431603" cy="412684"/>
              <a:chOff x="1870859" y="869908"/>
              <a:chExt cx="431603" cy="412684"/>
            </a:xfrm>
          </p:grpSpPr>
          <p:sp>
            <p:nvSpPr>
              <p:cNvPr id="6" name="Graphic 15">
                <a:extLst>
                  <a:ext uri="{FF2B5EF4-FFF2-40B4-BE49-F238E27FC236}">
                    <a16:creationId xmlns:a16="http://schemas.microsoft.com/office/drawing/2014/main" id="{B05BE7BE-7D54-A09B-8A67-6B28CF6BB6C0}"/>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7" name="Graphic 12">
                <a:extLst>
                  <a:ext uri="{FF2B5EF4-FFF2-40B4-BE49-F238E27FC236}">
                    <a16:creationId xmlns:a16="http://schemas.microsoft.com/office/drawing/2014/main" id="{258346A9-F75C-6704-EEED-CF7A8A0F8010}"/>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782CC39D-03B1-4933-F236-462B5862EBEC}"/>
              </a:ext>
            </a:extLst>
          </p:cNvPr>
          <p:cNvSpPr>
            <a:spLocks noGrp="1"/>
          </p:cNvSpPr>
          <p:nvPr>
            <p:ph type="title"/>
          </p:nvPr>
        </p:nvSpPr>
        <p:spPr>
          <a:xfrm>
            <a:off x="2932448" y="264160"/>
            <a:ext cx="6327105" cy="3373973"/>
          </a:xfrm>
        </p:spPr>
        <p:txBody>
          <a:bodyPr anchor="b"/>
          <a:lstStyle>
            <a:lvl1pPr algn="ctr">
              <a:defRPr sz="3200" cap="all" spc="600" baseline="0">
                <a:solidFill>
                  <a:schemeClr val="accent3">
                    <a:lumMod val="75000"/>
                  </a:schemeClr>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F711CA51-49DC-62CA-F147-F286B1C9DBD9}"/>
              </a:ext>
            </a:extLst>
          </p:cNvPr>
          <p:cNvSpPr>
            <a:spLocks noGrp="1"/>
          </p:cNvSpPr>
          <p:nvPr>
            <p:ph type="subTitle" idx="1" hasCustomPrompt="1"/>
          </p:nvPr>
        </p:nvSpPr>
        <p:spPr>
          <a:xfrm>
            <a:off x="2932448" y="3962135"/>
            <a:ext cx="6327105" cy="2653771"/>
          </a:xfrm>
        </p:spPr>
        <p:txBody>
          <a:bodyPr>
            <a:noAutofit/>
          </a:bodyPr>
          <a:lstStyle>
            <a:lvl1pPr marL="0" indent="0" algn="ctr">
              <a:buNone/>
              <a:defRPr sz="1800" b="0" i="0" cap="all" spc="300" baseline="0">
                <a:solidFill>
                  <a:schemeClr val="bg1"/>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11183414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C7D5518-914C-92E3-E9EC-26752C9F05AD}"/>
              </a:ext>
              <a:ext uri="{C183D7F6-B498-43B3-948B-1728B52AA6E4}">
                <adec:decorative xmlns:adec="http://schemas.microsoft.com/office/drawing/2017/decorative" val="1"/>
              </a:ext>
            </a:extLst>
          </p:cNvPr>
          <p:cNvGrpSpPr/>
          <p:nvPr userDrawn="1"/>
        </p:nvGrpSpPr>
        <p:grpSpPr>
          <a:xfrm>
            <a:off x="-1" y="-6350"/>
            <a:ext cx="12192000" cy="6864350"/>
            <a:chOff x="-1" y="-6350"/>
            <a:chExt cx="12192000" cy="6864350"/>
          </a:xfrm>
        </p:grpSpPr>
        <p:sp>
          <p:nvSpPr>
            <p:cNvPr id="4" name="Rectangle 3">
              <a:extLst>
                <a:ext uri="{FF2B5EF4-FFF2-40B4-BE49-F238E27FC236}">
                  <a16:creationId xmlns:a16="http://schemas.microsoft.com/office/drawing/2014/main" id="{C82D0B82-F74C-65EF-3BF6-8EEA16F36B7D}"/>
                </a:ext>
                <a:ext uri="{C183D7F6-B498-43B3-948B-1728B52AA6E4}">
                  <adec:decorative xmlns:adec="http://schemas.microsoft.com/office/drawing/2017/decorative" val="1"/>
                </a:ext>
              </a:extLst>
            </p:cNvPr>
            <p:cNvSpPr/>
            <p:nvPr/>
          </p:nvSpPr>
          <p:spPr>
            <a:xfrm>
              <a:off x="1428750" y="-6350"/>
              <a:ext cx="10763249"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Picture 5" descr="A blue and purple spiral&#10;&#10;Description automatically generated">
              <a:extLst>
                <a:ext uri="{FF2B5EF4-FFF2-40B4-BE49-F238E27FC236}">
                  <a16:creationId xmlns:a16="http://schemas.microsoft.com/office/drawing/2014/main" id="{44E12326-9CF4-38EC-1BAF-1F994F2208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93"/>
            <a:stretch/>
          </p:blipFill>
          <p:spPr>
            <a:xfrm flipH="1">
              <a:off x="-1" y="0"/>
              <a:ext cx="1428751" cy="6858000"/>
            </a:xfrm>
            <a:prstGeom prst="rect">
              <a:avLst/>
            </a:prstGeom>
          </p:spPr>
        </p:pic>
        <p:grpSp>
          <p:nvGrpSpPr>
            <p:cNvPr id="7" name="Group 6">
              <a:extLst>
                <a:ext uri="{FF2B5EF4-FFF2-40B4-BE49-F238E27FC236}">
                  <a16:creationId xmlns:a16="http://schemas.microsoft.com/office/drawing/2014/main" id="{AD5C1D9C-B114-FC6A-9213-7287D39EAD9F}"/>
                </a:ext>
              </a:extLst>
            </p:cNvPr>
            <p:cNvGrpSpPr/>
            <p:nvPr/>
          </p:nvGrpSpPr>
          <p:grpSpPr>
            <a:xfrm>
              <a:off x="10649689" y="4382998"/>
              <a:ext cx="754139" cy="1865729"/>
              <a:chOff x="653351" y="2693558"/>
              <a:chExt cx="754139" cy="1865729"/>
            </a:xfrm>
          </p:grpSpPr>
          <p:sp>
            <p:nvSpPr>
              <p:cNvPr id="11" name="Graphic 15">
                <a:extLst>
                  <a:ext uri="{FF2B5EF4-FFF2-40B4-BE49-F238E27FC236}">
                    <a16:creationId xmlns:a16="http://schemas.microsoft.com/office/drawing/2014/main" id="{2BC89B10-C93E-8CE5-73B3-F6049168C313}"/>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9DB2AA2-9661-AC91-932D-2F1BEC47BD8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86C9AC9B-3792-E880-03FE-D46FB046AB6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8" name="Group 7">
              <a:extLst>
                <a:ext uri="{FF2B5EF4-FFF2-40B4-BE49-F238E27FC236}">
                  <a16:creationId xmlns:a16="http://schemas.microsoft.com/office/drawing/2014/main" id="{1142A133-65D6-D958-C0CD-E8D45B9BD7BB}"/>
                </a:ext>
              </a:extLst>
            </p:cNvPr>
            <p:cNvGrpSpPr/>
            <p:nvPr/>
          </p:nvGrpSpPr>
          <p:grpSpPr>
            <a:xfrm>
              <a:off x="1870859" y="869908"/>
              <a:ext cx="431603" cy="412684"/>
              <a:chOff x="1870859" y="869908"/>
              <a:chExt cx="431603" cy="412684"/>
            </a:xfrm>
          </p:grpSpPr>
          <p:sp>
            <p:nvSpPr>
              <p:cNvPr id="9" name="Graphic 15">
                <a:extLst>
                  <a:ext uri="{FF2B5EF4-FFF2-40B4-BE49-F238E27FC236}">
                    <a16:creationId xmlns:a16="http://schemas.microsoft.com/office/drawing/2014/main" id="{A746B023-387D-4EAC-052B-60F131E6E707}"/>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0" name="Graphic 12">
                <a:extLst>
                  <a:ext uri="{FF2B5EF4-FFF2-40B4-BE49-F238E27FC236}">
                    <a16:creationId xmlns:a16="http://schemas.microsoft.com/office/drawing/2014/main" id="{20760125-21CF-A296-3EA7-3C6C0E9BCB2F}"/>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cxnSp>
        <p:nvCxnSpPr>
          <p:cNvPr id="14" name="Straight Connector 13">
            <a:extLst>
              <a:ext uri="{FF2B5EF4-FFF2-40B4-BE49-F238E27FC236}">
                <a16:creationId xmlns:a16="http://schemas.microsoft.com/office/drawing/2014/main" id="{7F851D11-41E3-33F2-CBA6-B2A9A5A2A517}"/>
              </a:ext>
              <a:ext uri="{C183D7F6-B498-43B3-948B-1728B52AA6E4}">
                <adec:decorative xmlns:adec="http://schemas.microsoft.com/office/drawing/2017/decorative" val="1"/>
              </a:ext>
            </a:extLst>
          </p:cNvPr>
          <p:cNvCxnSpPr>
            <a:cxnSpLocks/>
          </p:cNvCxnSpPr>
          <p:nvPr userDrawn="1"/>
        </p:nvCxnSpPr>
        <p:spPr>
          <a:xfrm>
            <a:off x="2369139" y="2002443"/>
            <a:ext cx="88735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2399620" y="162560"/>
            <a:ext cx="8843050" cy="16169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2373002" y="2474811"/>
            <a:ext cx="4015098"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21" name="Content Placeholder 4">
            <a:extLst>
              <a:ext uri="{FF2B5EF4-FFF2-40B4-BE49-F238E27FC236}">
                <a16:creationId xmlns:a16="http://schemas.microsoft.com/office/drawing/2014/main" id="{D77F99A7-26FA-422E-43E9-C76B4A56E44A}"/>
              </a:ext>
            </a:extLst>
          </p:cNvPr>
          <p:cNvSpPr>
            <a:spLocks noGrp="1"/>
          </p:cNvSpPr>
          <p:nvPr>
            <p:ph sz="quarter" idx="36" hasCustomPrompt="1"/>
          </p:nvPr>
        </p:nvSpPr>
        <p:spPr>
          <a:xfrm>
            <a:off x="6995159" y="2474811"/>
            <a:ext cx="4227332"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275828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A7247A-846A-F316-B494-69B42CBF34DD}"/>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884B3AF6-983E-0901-0045-6CDF4E93E1BA}"/>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C5B7647-403E-A66E-6CF4-0D3A99AA5154}"/>
              </a:ext>
              <a:ext uri="{C183D7F6-B498-43B3-948B-1728B52AA6E4}">
                <adec:decorative xmlns:adec="http://schemas.microsoft.com/office/drawing/2017/decorative" val="1"/>
              </a:ext>
            </a:extLst>
          </p:cNvPr>
          <p:cNvGrpSpPr/>
          <p:nvPr userDrawn="1"/>
        </p:nvGrpSpPr>
        <p:grpSpPr>
          <a:xfrm rot="10800000" flipH="1">
            <a:off x="10488530" y="4210019"/>
            <a:ext cx="754139" cy="1865729"/>
            <a:chOff x="653351" y="2693558"/>
            <a:chExt cx="754139" cy="1865729"/>
          </a:xfrm>
        </p:grpSpPr>
        <p:sp>
          <p:nvSpPr>
            <p:cNvPr id="10" name="Graphic 15">
              <a:extLst>
                <a:ext uri="{FF2B5EF4-FFF2-40B4-BE49-F238E27FC236}">
                  <a16:creationId xmlns:a16="http://schemas.microsoft.com/office/drawing/2014/main" id="{E48E731E-FEF1-9C59-64B0-9CB6E8853912}"/>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1" name="Graphic 12">
              <a:extLst>
                <a:ext uri="{FF2B5EF4-FFF2-40B4-BE49-F238E27FC236}">
                  <a16:creationId xmlns:a16="http://schemas.microsoft.com/office/drawing/2014/main" id="{AFE83BB3-4D12-8E20-CA93-1834D7F0A43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EB1D810-BC05-6C0E-0DE4-3604EBAADCC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41680" y="430482"/>
            <a:ext cx="10500989"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807038" y="2465539"/>
            <a:ext cx="3774587" cy="3723753"/>
          </a:xfrm>
        </p:spPr>
        <p:txBody>
          <a:bodyPr/>
          <a:lstStyle>
            <a:lvl1pPr marL="342900" indent="-342900">
              <a:lnSpc>
                <a:spcPct val="120000"/>
              </a:lnSpc>
              <a:spcBef>
                <a:spcPts val="1000"/>
              </a:spcBef>
              <a:buClr>
                <a:schemeClr val="accent3">
                  <a:lumMod val="75000"/>
                </a:schemeClr>
              </a:buClr>
              <a:buFont typeface="+mj-lt"/>
              <a:buAutoNum type="arabicPeriod"/>
              <a:defRPr sz="1800" spc="0" baseline="0">
                <a:solidFill>
                  <a:schemeClr val="bg1"/>
                </a:solidFill>
                <a:latin typeface="+mn-lt"/>
              </a:defRPr>
            </a:lvl1pPr>
            <a:lvl2pPr marL="626364" indent="-342900">
              <a:lnSpc>
                <a:spcPct val="120000"/>
              </a:lnSpc>
              <a:spcBef>
                <a:spcPts val="1000"/>
              </a:spcBef>
              <a:buClr>
                <a:schemeClr val="accent3">
                  <a:lumMod val="75000"/>
                </a:schemeClr>
              </a:buClr>
              <a:buFont typeface="+mj-lt"/>
              <a:buAutoNum type="alphaLcPeriod"/>
              <a:defRPr sz="1800" spc="0">
                <a:solidFill>
                  <a:schemeClr val="bg1"/>
                </a:solidFill>
                <a:latin typeface="+mn-lt"/>
              </a:defRPr>
            </a:lvl2pPr>
            <a:lvl3pPr marL="918972" indent="-342900">
              <a:lnSpc>
                <a:spcPct val="120000"/>
              </a:lnSpc>
              <a:spcBef>
                <a:spcPts val="1000"/>
              </a:spcBef>
              <a:buClr>
                <a:schemeClr val="accent3">
                  <a:lumMod val="75000"/>
                </a:schemeClr>
              </a:buClr>
              <a:buFont typeface="+mj-lt"/>
              <a:buAutoNum type="arabicParenR"/>
              <a:defRPr sz="1800" spc="0">
                <a:solidFill>
                  <a:schemeClr val="bg1"/>
                </a:solidFill>
                <a:latin typeface="+mn-lt"/>
              </a:defRPr>
            </a:lvl3pPr>
            <a:lvl4pPr marL="1209294" indent="-342900">
              <a:lnSpc>
                <a:spcPct val="120000"/>
              </a:lnSpc>
              <a:spcBef>
                <a:spcPts val="1000"/>
              </a:spcBef>
              <a:buClr>
                <a:schemeClr val="accent3">
                  <a:lumMod val="75000"/>
                </a:schemeClr>
              </a:buClr>
              <a:buFont typeface="+mj-lt"/>
              <a:buAutoNum type="alphaLcParen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4927600" y="2465539"/>
            <a:ext cx="6315069" cy="3723753"/>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9662227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 column">
    <p:bg>
      <p:bgPr>
        <a:gradFill>
          <a:gsLst>
            <a:gs pos="100000">
              <a:schemeClr val="tx2"/>
            </a:gs>
            <a:gs pos="81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23B0D0-B01D-0BB0-6127-A878BE49D18E}"/>
              </a:ext>
              <a:ext uri="{C183D7F6-B498-43B3-948B-1728B52AA6E4}">
                <adec:decorative xmlns:adec="http://schemas.microsoft.com/office/drawing/2017/decorative" val="1"/>
              </a:ext>
            </a:extLst>
          </p:cNvPr>
          <p:cNvSpPr/>
          <p:nvPr userDrawn="1"/>
        </p:nvSpPr>
        <p:spPr>
          <a:xfrm>
            <a:off x="6039728" y="-6350"/>
            <a:ext cx="6154615"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6889627" y="173736"/>
            <a:ext cx="4352662" cy="220370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Picture Placeholder 9">
            <a:extLst>
              <a:ext uri="{FF2B5EF4-FFF2-40B4-BE49-F238E27FC236}">
                <a16:creationId xmlns:a16="http://schemas.microsoft.com/office/drawing/2014/main" id="{6C363351-4779-B42E-ED7A-C4AF2920BABC}"/>
              </a:ext>
            </a:extLst>
          </p:cNvPr>
          <p:cNvSpPr>
            <a:spLocks noGrp="1"/>
          </p:cNvSpPr>
          <p:nvPr>
            <p:ph type="pic" sz="quarter" idx="37"/>
          </p:nvPr>
        </p:nvSpPr>
        <p:spPr>
          <a:xfrm>
            <a:off x="336550" y="336550"/>
            <a:ext cx="5303640" cy="6184900"/>
          </a:xfrm>
        </p:spPr>
        <p:txBody>
          <a:bodyPr/>
          <a:lstStyle>
            <a:lvl1pPr algn="ctr">
              <a:defRPr sz="2000"/>
            </a:lvl1pPr>
          </a:lstStyle>
          <a:p>
            <a:r>
              <a:rPr lang="en-US"/>
              <a:t>Click icon to add picture</a:t>
            </a:r>
            <a:endParaRPr lang="en-US" dirty="0"/>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6889627" y="3104277"/>
            <a:ext cx="4371560" cy="3022201"/>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cxnSp>
        <p:nvCxnSpPr>
          <p:cNvPr id="4" name="Straight Connector 3">
            <a:extLst>
              <a:ext uri="{FF2B5EF4-FFF2-40B4-BE49-F238E27FC236}">
                <a16:creationId xmlns:a16="http://schemas.microsoft.com/office/drawing/2014/main" id="{F0712911-615E-724B-FC0F-996291526D31}"/>
              </a:ext>
              <a:ext uri="{C183D7F6-B498-43B3-948B-1728B52AA6E4}">
                <adec:decorative xmlns:adec="http://schemas.microsoft.com/office/drawing/2017/decorative" val="1"/>
              </a:ext>
            </a:extLst>
          </p:cNvPr>
          <p:cNvCxnSpPr>
            <a:cxnSpLocks/>
          </p:cNvCxnSpPr>
          <p:nvPr userDrawn="1"/>
        </p:nvCxnSpPr>
        <p:spPr>
          <a:xfrm>
            <a:off x="6889627" y="2679480"/>
            <a:ext cx="4352662"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08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and 2 column">
    <p:bg>
      <p:bgPr>
        <a:gradFill>
          <a:gsLst>
            <a:gs pos="100000">
              <a:schemeClr val="tx2"/>
            </a:gs>
            <a:gs pos="81000">
              <a:schemeClr val="accent6"/>
            </a:gs>
            <a:gs pos="55000">
              <a:srgbClr val="02090E"/>
            </a:gs>
            <a:gs pos="14000">
              <a:schemeClr val="accent4">
                <a:lumMod val="75000"/>
              </a:schemeClr>
            </a:gs>
            <a:gs pos="0">
              <a:schemeClr val="accent4"/>
            </a:gs>
          </a:gsLst>
          <a:lin ang="27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FFF0E2-6B47-67EB-D6AA-D972E7B7C367}"/>
              </a:ext>
              <a:ext uri="{C183D7F6-B498-43B3-948B-1728B52AA6E4}">
                <adec:decorative xmlns:adec="http://schemas.microsoft.com/office/drawing/2017/decorative" val="1"/>
              </a:ext>
            </a:extLst>
          </p:cNvPr>
          <p:cNvSpPr/>
          <p:nvPr userDrawn="1"/>
        </p:nvSpPr>
        <p:spPr>
          <a:xfrm>
            <a:off x="0" y="-6350"/>
            <a:ext cx="464695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cxnSp>
        <p:nvCxnSpPr>
          <p:cNvPr id="4" name="Straight Connector 3">
            <a:extLst>
              <a:ext uri="{FF2B5EF4-FFF2-40B4-BE49-F238E27FC236}">
                <a16:creationId xmlns:a16="http://schemas.microsoft.com/office/drawing/2014/main" id="{94827F6F-999F-23E9-8C09-325D1A76B07A}"/>
              </a:ext>
              <a:ext uri="{C183D7F6-B498-43B3-948B-1728B52AA6E4}">
                <adec:decorative xmlns:adec="http://schemas.microsoft.com/office/drawing/2017/decorative" val="1"/>
              </a:ext>
            </a:extLst>
          </p:cNvPr>
          <p:cNvCxnSpPr>
            <a:cxnSpLocks/>
          </p:cNvCxnSpPr>
          <p:nvPr userDrawn="1"/>
        </p:nvCxnSpPr>
        <p:spPr>
          <a:xfrm>
            <a:off x="835831" y="2680134"/>
            <a:ext cx="3114078"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171396"/>
            <a:ext cx="3736630" cy="2202350"/>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41716" y="3078480"/>
            <a:ext cx="3108193" cy="3047997"/>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2" name="Table Placeholder 11">
            <a:extLst>
              <a:ext uri="{FF2B5EF4-FFF2-40B4-BE49-F238E27FC236}">
                <a16:creationId xmlns:a16="http://schemas.microsoft.com/office/drawing/2014/main" id="{D360C16C-E69B-FDEF-F033-CA9A2E238288}"/>
              </a:ext>
            </a:extLst>
          </p:cNvPr>
          <p:cNvSpPr>
            <a:spLocks noGrp="1"/>
          </p:cNvSpPr>
          <p:nvPr>
            <p:ph type="tbl" sz="quarter" idx="37"/>
          </p:nvPr>
        </p:nvSpPr>
        <p:spPr>
          <a:xfrm>
            <a:off x="5067300" y="404813"/>
            <a:ext cx="6705600" cy="6048375"/>
          </a:xfrm>
        </p:spPr>
        <p:txBody>
          <a:bodyPr/>
          <a:lstStyle>
            <a:lvl1pPr>
              <a:defRPr sz="2400">
                <a:latin typeface="+mn-lt"/>
              </a:defRPr>
            </a:lvl1pPr>
          </a:lstStyle>
          <a:p>
            <a:r>
              <a:rPr lang="en-US"/>
              <a:t>Click icon to add table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Tree>
    <p:extLst>
      <p:ext uri="{BB962C8B-B14F-4D97-AF65-F5344CB8AC3E}">
        <p14:creationId xmlns:p14="http://schemas.microsoft.com/office/powerpoint/2010/main" val="39072198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96A82D-0723-4BA3-0283-9F0D67B0CEF4}"/>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6A20A5FD-BDFB-45F2-E644-E93FB81CA575}"/>
              </a:ext>
              <a:ext uri="{C183D7F6-B498-43B3-948B-1728B52AA6E4}">
                <adec:decorative xmlns:adec="http://schemas.microsoft.com/office/drawing/2017/decorative" val="1"/>
              </a:ext>
            </a:extLst>
          </p:cNvPr>
          <p:cNvCxnSpPr>
            <a:cxnSpLocks/>
          </p:cNvCxnSpPr>
          <p:nvPr userDrawn="1"/>
        </p:nvCxnSpPr>
        <p:spPr>
          <a:xfrm>
            <a:off x="807039" y="1983416"/>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33562" y="433906"/>
            <a:ext cx="10515601"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14302" y="2465535"/>
            <a:ext cx="7303538" cy="3427265"/>
          </a:xfrm>
        </p:spPr>
        <p:txBody>
          <a:bodyPr/>
          <a:lstStyle>
            <a:lvl1pPr marL="283464" indent="-283464">
              <a:lnSpc>
                <a:spcPct val="120000"/>
              </a:lnSpc>
              <a:spcBef>
                <a:spcPts val="1000"/>
              </a:spcBef>
              <a:buClr>
                <a:schemeClr val="accent3"/>
              </a:buClr>
              <a:buFont typeface="Arial" panose="020B0604020202020204" pitchFamily="34" charset="0"/>
              <a:buChar char="•"/>
              <a:defRPr sz="1800" spc="0" baseline="0">
                <a:solidFill>
                  <a:schemeClr val="bg1"/>
                </a:solidFill>
                <a:latin typeface="+mn-lt"/>
              </a:defRPr>
            </a:lvl1pPr>
            <a:lvl2pPr marL="566928" indent="-283464">
              <a:lnSpc>
                <a:spcPct val="120000"/>
              </a:lnSpc>
              <a:spcBef>
                <a:spcPts val="500"/>
              </a:spcBef>
              <a:buClr>
                <a:schemeClr val="accent3"/>
              </a:buClr>
              <a:defRPr sz="1800" spc="0"/>
            </a:lvl2pPr>
            <a:lvl3pPr marL="859536" indent="-283464">
              <a:lnSpc>
                <a:spcPct val="120000"/>
              </a:lnSpc>
              <a:spcBef>
                <a:spcPts val="500"/>
              </a:spcBef>
              <a:buClr>
                <a:schemeClr val="accent3"/>
              </a:buClr>
              <a:defRPr sz="1800" spc="0"/>
            </a:lvl3pPr>
            <a:lvl4pPr marL="1152144">
              <a:lnSpc>
                <a:spcPct val="120000"/>
              </a:lnSpc>
              <a:spcBef>
                <a:spcPts val="500"/>
              </a:spcBef>
              <a:buClr>
                <a:schemeClr val="accent3"/>
              </a:buCl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0" name="Content Placeholder 9">
            <a:extLst>
              <a:ext uri="{FF2B5EF4-FFF2-40B4-BE49-F238E27FC236}">
                <a16:creationId xmlns:a16="http://schemas.microsoft.com/office/drawing/2014/main" id="{4E7FC75E-AA73-003E-D4E3-B1819886AF9C}"/>
              </a:ext>
            </a:extLst>
          </p:cNvPr>
          <p:cNvSpPr>
            <a:spLocks noGrp="1"/>
          </p:cNvSpPr>
          <p:nvPr>
            <p:ph sz="quarter" idx="37" hasCustomPrompt="1"/>
          </p:nvPr>
        </p:nvSpPr>
        <p:spPr>
          <a:xfrm>
            <a:off x="8392160" y="2465388"/>
            <a:ext cx="2856865" cy="3427412"/>
          </a:xfrm>
        </p:spPr>
        <p:txBody>
          <a:bodyPr/>
          <a:lstStyle>
            <a:lvl1pPr marL="0" indent="0">
              <a:lnSpc>
                <a:spcPct val="120000"/>
              </a:lnSpc>
              <a:spcBef>
                <a:spcPts val="1000"/>
              </a:spcBef>
              <a:buFont typeface="Arial" panose="020B0604020202020204" pitchFamily="34" charset="0"/>
              <a:buNone/>
              <a:defRPr sz="1800">
                <a:solidFill>
                  <a:schemeClr val="bg1"/>
                </a:solidFill>
                <a:latin typeface="+mn-lt"/>
              </a:defRPr>
            </a:lvl1pPr>
            <a:lvl2pPr marL="457200" indent="0">
              <a:lnSpc>
                <a:spcPct val="120000"/>
              </a:lnSpc>
              <a:spcBef>
                <a:spcPts val="1000"/>
              </a:spcBef>
              <a:buNone/>
              <a:defRPr sz="1600">
                <a:solidFill>
                  <a:schemeClr val="bg1"/>
                </a:solidFill>
                <a:latin typeface="+mn-lt"/>
              </a:defRPr>
            </a:lvl2pPr>
            <a:lvl3pPr marL="914400" indent="0">
              <a:lnSpc>
                <a:spcPct val="120000"/>
              </a:lnSpc>
              <a:spcBef>
                <a:spcPts val="1000"/>
              </a:spcBef>
              <a:buNone/>
              <a:defRPr sz="1400">
                <a:solidFill>
                  <a:schemeClr val="bg1"/>
                </a:solidFill>
                <a:latin typeface="+mn-lt"/>
              </a:defRPr>
            </a:lvl3pPr>
            <a:lvl4pPr marL="1371600" indent="0">
              <a:lnSpc>
                <a:spcPct val="120000"/>
              </a:lnSpc>
              <a:spcBef>
                <a:spcPts val="1000"/>
              </a:spcBef>
              <a:buNone/>
              <a:defRPr sz="1200">
                <a:solidFill>
                  <a:schemeClr val="bg1"/>
                </a:solidFill>
                <a:latin typeface="+mn-lt"/>
              </a:defRPr>
            </a:lvl4pPr>
            <a:lvl5pPr marL="1828800" indent="0">
              <a:lnSpc>
                <a:spcPct val="120000"/>
              </a:lnSpc>
              <a:spcBef>
                <a:spcPts val="1000"/>
              </a:spcBef>
              <a:buNone/>
              <a:defRPr sz="12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2456119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D51531-1219-2E4B-DCE7-C6FD9D809F0C}"/>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BEC02E56-87A4-158A-F0B0-DB8E9BE3AE5E}"/>
              </a:ext>
              <a:ext uri="{C183D7F6-B498-43B3-948B-1728B52AA6E4}">
                <adec:decorative xmlns:adec="http://schemas.microsoft.com/office/drawing/2017/decorative" val="1"/>
              </a:ext>
            </a:extLst>
          </p:cNvPr>
          <p:cNvCxnSpPr>
            <a:cxnSpLocks/>
          </p:cNvCxnSpPr>
          <p:nvPr userDrawn="1"/>
        </p:nvCxnSpPr>
        <p:spPr>
          <a:xfrm>
            <a:off x="807039" y="1991547"/>
            <a:ext cx="10546763"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643842"/>
            <a:ext cx="10515601" cy="1140849"/>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Table Placeholder 9">
            <a:extLst>
              <a:ext uri="{FF2B5EF4-FFF2-40B4-BE49-F238E27FC236}">
                <a16:creationId xmlns:a16="http://schemas.microsoft.com/office/drawing/2014/main" id="{471D7DE3-05F5-8052-02FA-6EF9717E15BE}"/>
              </a:ext>
            </a:extLst>
          </p:cNvPr>
          <p:cNvSpPr>
            <a:spLocks noGrp="1"/>
          </p:cNvSpPr>
          <p:nvPr>
            <p:ph type="tbl" sz="quarter" idx="13"/>
          </p:nvPr>
        </p:nvSpPr>
        <p:spPr>
          <a:xfrm>
            <a:off x="835025" y="2560638"/>
            <a:ext cx="10515600" cy="3478212"/>
          </a:xfrm>
        </p:spPr>
        <p:txBody>
          <a:bodyPr/>
          <a:lstStyle>
            <a:lvl1pPr>
              <a:defRPr sz="2400">
                <a:latin typeface="+mn-lt"/>
              </a:defRPr>
            </a:lvl1pPr>
          </a:lstStyle>
          <a:p>
            <a:r>
              <a:rPr lang="en-US"/>
              <a:t>Click icon to add table</a:t>
            </a:r>
            <a:endParaRPr lang="en-US" dirty="0"/>
          </a:p>
        </p:txBody>
      </p:sp>
      <p:cxnSp>
        <p:nvCxnSpPr>
          <p:cNvPr id="8" name="Straight Connector 7">
            <a:extLst>
              <a:ext uri="{FF2B5EF4-FFF2-40B4-BE49-F238E27FC236}">
                <a16:creationId xmlns:a16="http://schemas.microsoft.com/office/drawing/2014/main" id="{6468DE94-FC46-A848-7949-ABFEADADEA16}"/>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454591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81987">
              <a:schemeClr val="accent6">
                <a:lumMod val="50000"/>
              </a:schemeClr>
            </a:gs>
            <a:gs pos="35040">
              <a:srgbClr val="020B11"/>
            </a:gs>
            <a:gs pos="11979">
              <a:schemeClr val="accent4">
                <a:lumMod val="50000"/>
              </a:schemeClr>
            </a:gs>
            <a:gs pos="0">
              <a:schemeClr val="accent4"/>
            </a:gs>
            <a:gs pos="99000">
              <a:schemeClr val="tx2"/>
            </a:gs>
          </a:gsLst>
          <a:lin ang="540000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89F5C3D-E9E6-75E0-BF7D-799B5CFE5ED0}"/>
              </a:ext>
              <a:ext uri="{C183D7F6-B498-43B3-948B-1728B52AA6E4}">
                <adec:decorative xmlns:adec="http://schemas.microsoft.com/office/drawing/2017/decorative" val="1"/>
              </a:ext>
            </a:extLst>
          </p:cNvPr>
          <p:cNvGrpSpPr/>
          <p:nvPr userDrawn="1"/>
        </p:nvGrpSpPr>
        <p:grpSpPr>
          <a:xfrm>
            <a:off x="4575462" y="4137"/>
            <a:ext cx="7616537" cy="6853863"/>
            <a:chOff x="4575462" y="4137"/>
            <a:chExt cx="7616537" cy="6853863"/>
          </a:xfrm>
        </p:grpSpPr>
        <p:grpSp>
          <p:nvGrpSpPr>
            <p:cNvPr id="16" name="Group 15">
              <a:extLst>
                <a:ext uri="{FF2B5EF4-FFF2-40B4-BE49-F238E27FC236}">
                  <a16:creationId xmlns:a16="http://schemas.microsoft.com/office/drawing/2014/main" id="{CDE1D2C2-40C4-6B80-E8C6-B4CE94C23037}"/>
                </a:ext>
              </a:extLst>
            </p:cNvPr>
            <p:cNvGrpSpPr/>
            <p:nvPr/>
          </p:nvGrpSpPr>
          <p:grpSpPr>
            <a:xfrm>
              <a:off x="4575462" y="691665"/>
              <a:ext cx="364018" cy="857035"/>
              <a:chOff x="468157" y="1144246"/>
              <a:chExt cx="364018" cy="857035"/>
            </a:xfrm>
          </p:grpSpPr>
          <p:sp>
            <p:nvSpPr>
              <p:cNvPr id="27" name="Oval 26">
                <a:extLst>
                  <a:ext uri="{FF2B5EF4-FFF2-40B4-BE49-F238E27FC236}">
                    <a16:creationId xmlns:a16="http://schemas.microsoft.com/office/drawing/2014/main" id="{7C904D88-E1BE-F1FA-D405-F55DA966DA84}"/>
                  </a:ext>
                  <a:ext uri="{C183D7F6-B498-43B3-948B-1728B52AA6E4}">
                    <adec:decorative xmlns:adec="http://schemas.microsoft.com/office/drawing/2017/decorative" val="1"/>
                  </a:ext>
                </a:extLst>
              </p:cNvPr>
              <p:cNvSpPr/>
              <p:nvPr/>
            </p:nvSpPr>
            <p:spPr>
              <a:xfrm>
                <a:off x="705405" y="1144246"/>
                <a:ext cx="126770" cy="126770"/>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8" name="Graphic 12">
                <a:extLst>
                  <a:ext uri="{FF2B5EF4-FFF2-40B4-BE49-F238E27FC236}">
                    <a16:creationId xmlns:a16="http://schemas.microsoft.com/office/drawing/2014/main" id="{1D8F0816-C429-D32E-058B-33405874DFA7}"/>
                  </a:ext>
                  <a:ext uri="{C183D7F6-B498-43B3-948B-1728B52AA6E4}">
                    <adec:decorative xmlns:adec="http://schemas.microsoft.com/office/drawing/2017/decorative" val="1"/>
                  </a:ext>
                </a:extLst>
              </p:cNvPr>
              <p:cNvSpPr/>
              <p:nvPr/>
            </p:nvSpPr>
            <p:spPr>
              <a:xfrm>
                <a:off x="468157" y="1963496"/>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pic>
          <p:nvPicPr>
            <p:cNvPr id="4" name="Content Placeholder 14">
              <a:extLst>
                <a:ext uri="{FF2B5EF4-FFF2-40B4-BE49-F238E27FC236}">
                  <a16:creationId xmlns:a16="http://schemas.microsoft.com/office/drawing/2014/main" id="{14AC0A97-7D79-3DBE-FB53-A9EBFD806E06}"/>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542796" y="4137"/>
              <a:ext cx="5649203" cy="6853863"/>
            </a:xfrm>
            <a:prstGeom prst="rect">
              <a:avLst/>
            </a:prstGeom>
          </p:spPr>
        </p:pic>
      </p:grpSp>
      <p:sp>
        <p:nvSpPr>
          <p:cNvPr id="2" name="Title 1">
            <a:extLst>
              <a:ext uri="{FF2B5EF4-FFF2-40B4-BE49-F238E27FC236}">
                <a16:creationId xmlns:a16="http://schemas.microsoft.com/office/drawing/2014/main" id="{51E83F98-B388-2594-BACB-E3DB652C97D5}"/>
              </a:ext>
            </a:extLst>
          </p:cNvPr>
          <p:cNvSpPr>
            <a:spLocks noGrp="1"/>
          </p:cNvSpPr>
          <p:nvPr>
            <p:ph type="title" hasCustomPrompt="1"/>
          </p:nvPr>
        </p:nvSpPr>
        <p:spPr>
          <a:xfrm>
            <a:off x="835831" y="173735"/>
            <a:ext cx="4409514" cy="2203704"/>
          </a:xfrm>
        </p:spPr>
        <p:txBody>
          <a:bodyPr anchor="b">
            <a:noAutofit/>
          </a:bodyPr>
          <a:lstStyle>
            <a:lvl1pPr>
              <a:defRPr sz="3200" cap="all" baseline="0">
                <a:solidFill>
                  <a:schemeClr val="accent3"/>
                </a:solidFill>
              </a:defRPr>
            </a:lvl1pPr>
          </a:lstStyle>
          <a:p>
            <a:r>
              <a:rPr lang="en-US" dirty="0"/>
              <a:t>Click to add title</a:t>
            </a:r>
          </a:p>
        </p:txBody>
      </p:sp>
      <p:sp>
        <p:nvSpPr>
          <p:cNvPr id="7" name="Content Placeholder 6">
            <a:extLst>
              <a:ext uri="{FF2B5EF4-FFF2-40B4-BE49-F238E27FC236}">
                <a16:creationId xmlns:a16="http://schemas.microsoft.com/office/drawing/2014/main" id="{0D9D0F3E-69D8-49F3-5D7A-71FDC4E3EEE3}"/>
              </a:ext>
            </a:extLst>
          </p:cNvPr>
          <p:cNvSpPr>
            <a:spLocks noGrp="1"/>
          </p:cNvSpPr>
          <p:nvPr>
            <p:ph sz="quarter" idx="14" hasCustomPrompt="1"/>
          </p:nvPr>
        </p:nvSpPr>
        <p:spPr>
          <a:xfrm>
            <a:off x="831850" y="3079119"/>
            <a:ext cx="4413250" cy="2752725"/>
          </a:xfrm>
        </p:spPr>
        <p:txBody>
          <a:bodyPr/>
          <a:lstStyle>
            <a:lvl1pPr>
              <a:lnSpc>
                <a:spcPct val="120000"/>
              </a:lnSpc>
              <a:spcBef>
                <a:spcPts val="1000"/>
              </a:spcBef>
              <a:defRPr sz="1800">
                <a:solidFill>
                  <a:schemeClr val="bg1"/>
                </a:solidFill>
                <a:latin typeface="+mn-lt"/>
              </a:defRPr>
            </a:lvl1pPr>
            <a:lvl2pPr>
              <a:lnSpc>
                <a:spcPct val="120000"/>
              </a:lnSpc>
              <a:spcBef>
                <a:spcPts val="1000"/>
              </a:spcBef>
              <a:buClr>
                <a:schemeClr val="accent3"/>
              </a:buClr>
              <a:defRPr sz="1600">
                <a:solidFill>
                  <a:schemeClr val="bg1"/>
                </a:solidFill>
                <a:latin typeface="+mn-lt"/>
              </a:defRPr>
            </a:lvl2pPr>
            <a:lvl3pPr>
              <a:lnSpc>
                <a:spcPct val="120000"/>
              </a:lnSpc>
              <a:spcBef>
                <a:spcPts val="1000"/>
              </a:spcBef>
              <a:buClr>
                <a:schemeClr val="accent3"/>
              </a:buClr>
              <a:defRPr sz="1400">
                <a:solidFill>
                  <a:schemeClr val="bg1"/>
                </a:solidFill>
                <a:latin typeface="+mn-lt"/>
              </a:defRPr>
            </a:lvl3pPr>
            <a:lvl4pPr>
              <a:lnSpc>
                <a:spcPct val="120000"/>
              </a:lnSpc>
              <a:spcBef>
                <a:spcPts val="1000"/>
              </a:spcBef>
              <a:buClr>
                <a:schemeClr val="accent3"/>
              </a:buClr>
              <a:defRPr sz="1200">
                <a:solidFill>
                  <a:schemeClr val="bg1"/>
                </a:solidFill>
                <a:latin typeface="+mn-lt"/>
              </a:defRPr>
            </a:lvl4pPr>
            <a:lvl5pPr>
              <a:lnSpc>
                <a:spcPct val="120000"/>
              </a:lnSpc>
              <a:spcBef>
                <a:spcPts val="1000"/>
              </a:spcBef>
              <a:buClr>
                <a:schemeClr val="accent3"/>
              </a:buCl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61CFC792-44F7-2497-E19D-8FB08AFF94F7}"/>
              </a:ext>
              <a:ext uri="{C183D7F6-B498-43B3-948B-1728B52AA6E4}">
                <adec:decorative xmlns:adec="http://schemas.microsoft.com/office/drawing/2017/decorative" val="1"/>
              </a:ext>
            </a:extLst>
          </p:cNvPr>
          <p:cNvCxnSpPr>
            <a:cxnSpLocks/>
          </p:cNvCxnSpPr>
          <p:nvPr userDrawn="1"/>
        </p:nvCxnSpPr>
        <p:spPr>
          <a:xfrm>
            <a:off x="835831" y="2679192"/>
            <a:ext cx="4101929"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82607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tx1"/>
            </a:gs>
            <a:gs pos="99000">
              <a:srgbClr val="05202E"/>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3EA418-19D1-0D4D-BE52-40A86E32F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2BAE0C-5187-A64D-A481-E69245670354}"/>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9759C05-48F5-9346-8256-5B61C6990E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bg1"/>
                </a:solidFill>
                <a:latin typeface="+mj-lt"/>
                <a:cs typeface="Biome" panose="020B0503030204020804" pitchFamily="34" charset="0"/>
              </a:defRPr>
            </a:lvl1pPr>
          </a:lstStyle>
          <a:p>
            <a:endParaRPr lang="en-US" dirty="0"/>
          </a:p>
        </p:txBody>
      </p:sp>
      <p:sp>
        <p:nvSpPr>
          <p:cNvPr id="5" name="Footer Placeholder 4">
            <a:extLst>
              <a:ext uri="{FF2B5EF4-FFF2-40B4-BE49-F238E27FC236}">
                <a16:creationId xmlns:a16="http://schemas.microsoft.com/office/drawing/2014/main" id="{84175D63-7351-9C4A-AEE0-10E27B3B64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bg1"/>
                </a:solidFill>
                <a:latin typeface="+mj-lt"/>
                <a:cs typeface="Biome" panose="020B05030302040208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7350889F-2BBA-5F45-95BC-BEA6688167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noAutofit/>
          </a:bodyPr>
          <a:lstStyle>
            <a:lvl1pPr algn="r">
              <a:defRPr sz="1200">
                <a:solidFill>
                  <a:schemeClr val="bg1"/>
                </a:solidFill>
                <a:latin typeface="+mj-lt"/>
                <a:cs typeface="Biome" panose="020B0503030204020804" pitchFamily="34" charset="0"/>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955693199"/>
      </p:ext>
    </p:extLst>
  </p:cSld>
  <p:clrMap bg1="lt1" tx1="dk1" bg2="lt2" tx2="dk2" accent1="accent1" accent2="accent2" accent3="accent3" accent4="accent4" accent5="accent5" accent6="accent6" hlink="hlink" folHlink="folHlink"/>
  <p:sldLayoutIdLst>
    <p:sldLayoutId id="2147483657" r:id="rId1"/>
    <p:sldLayoutId id="2147483679" r:id="rId2"/>
    <p:sldLayoutId id="2147483669" r:id="rId3"/>
    <p:sldLayoutId id="2147483672" r:id="rId4"/>
    <p:sldLayoutId id="2147483673" r:id="rId5"/>
    <p:sldLayoutId id="2147483674" r:id="rId6"/>
    <p:sldLayoutId id="2147483671" r:id="rId7"/>
    <p:sldLayoutId id="2147483675" r:id="rId8"/>
    <p:sldLayoutId id="2147483676" r:id="rId9"/>
    <p:sldLayoutId id="2147483670" r:id="rId10"/>
    <p:sldLayoutId id="2147483677" r:id="rId11"/>
    <p:sldLayoutId id="2147483678" r:id="rId12"/>
    <p:sldLayoutId id="2147483664" r:id="rId13"/>
    <p:sldLayoutId id="2147483663" r:id="rId14"/>
  </p:sldLayoutIdLst>
  <p:hf hdr="0" ftr="0" dt="0"/>
  <p:txStyles>
    <p:titleStyle>
      <a:lvl1pPr algn="l" defTabSz="914400" rtl="0" eaLnBrk="1" latinLnBrk="0" hangingPunct="1">
        <a:lnSpc>
          <a:spcPct val="90000"/>
        </a:lnSpc>
        <a:spcBef>
          <a:spcPct val="0"/>
        </a:spcBef>
        <a:buNone/>
        <a:defRPr sz="4400" kern="1200" spc="300" baseline="0">
          <a:solidFill>
            <a:schemeClr val="bg1"/>
          </a:solidFill>
          <a:latin typeface="+mj-lt"/>
          <a:ea typeface="+mj-ea"/>
          <a:cs typeface="Biome" panose="020B05030302040208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97874EA-2F67-60CD-631F-5A787057F8CE}"/>
              </a:ext>
            </a:extLst>
          </p:cNvPr>
          <p:cNvSpPr>
            <a:spLocks noGrp="1"/>
          </p:cNvSpPr>
          <p:nvPr>
            <p:ph type="title"/>
          </p:nvPr>
        </p:nvSpPr>
        <p:spPr>
          <a:xfrm>
            <a:off x="0" y="304799"/>
            <a:ext cx="12191998" cy="3215641"/>
          </a:xfrm>
        </p:spPr>
        <p:txBody>
          <a:bodyPr anchor="b"/>
          <a:lstStyle/>
          <a:p>
            <a:r>
              <a:rPr lang="en-US" dirty="0"/>
              <a:t>Federal reserve’s dual mandate</a:t>
            </a:r>
          </a:p>
        </p:txBody>
      </p:sp>
      <p:sp>
        <p:nvSpPr>
          <p:cNvPr id="9" name="Subtitle 3">
            <a:extLst>
              <a:ext uri="{FF2B5EF4-FFF2-40B4-BE49-F238E27FC236}">
                <a16:creationId xmlns:a16="http://schemas.microsoft.com/office/drawing/2014/main" id="{2981AB9E-AF0F-CAD0-2DD2-D640FB871E66}"/>
              </a:ext>
            </a:extLst>
          </p:cNvPr>
          <p:cNvSpPr>
            <a:spLocks noGrp="1"/>
          </p:cNvSpPr>
          <p:nvPr>
            <p:ph type="subTitle" idx="1"/>
          </p:nvPr>
        </p:nvSpPr>
        <p:spPr>
          <a:xfrm>
            <a:off x="3" y="3670628"/>
            <a:ext cx="12191997" cy="1653212"/>
          </a:xfrm>
        </p:spPr>
        <p:txBody>
          <a:bodyPr/>
          <a:lstStyle/>
          <a:p>
            <a:r>
              <a:rPr lang="en-US" dirty="0">
                <a:solidFill>
                  <a:schemeClr val="bg1"/>
                </a:solidFill>
              </a:rPr>
              <a:t>Inflation vs unemployment balance</a:t>
            </a:r>
          </a:p>
          <a:p>
            <a:r>
              <a:rPr lang="en-US" sz="2000" dirty="0">
                <a:solidFill>
                  <a:schemeClr val="accent3">
                    <a:lumMod val="75000"/>
                  </a:schemeClr>
                </a:solidFill>
              </a:rPr>
              <a:t>Mei Qi Ng | FALL 2026 DATA 608: Story 2</a:t>
            </a:r>
          </a:p>
        </p:txBody>
      </p:sp>
    </p:spTree>
    <p:extLst>
      <p:ext uri="{BB962C8B-B14F-4D97-AF65-F5344CB8AC3E}">
        <p14:creationId xmlns:p14="http://schemas.microsoft.com/office/powerpoint/2010/main" val="2498031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tx2"/>
            </a:gs>
            <a:gs pos="81000">
              <a:schemeClr val="accent6"/>
            </a:gs>
            <a:gs pos="55000">
              <a:srgbClr val="02090E"/>
            </a:gs>
            <a:gs pos="14000">
              <a:schemeClr val="accent4">
                <a:lumMod val="75000"/>
              </a:schemeClr>
            </a:gs>
            <a:gs pos="0">
              <a:schemeClr val="accent4"/>
            </a:gs>
          </a:gsLst>
          <a:lin ang="2700000" scaled="1"/>
          <a:tileRect/>
        </a:gra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D3D9A0D-9297-6CAD-E7E7-DE8452FD0BB6}"/>
              </a:ext>
            </a:extLst>
          </p:cNvPr>
          <p:cNvPicPr>
            <a:picLocks noChangeAspect="1"/>
          </p:cNvPicPr>
          <p:nvPr/>
        </p:nvPicPr>
        <p:blipFill>
          <a:blip r:embed="rId3"/>
          <a:stretch>
            <a:fillRect/>
          </a:stretch>
        </p:blipFill>
        <p:spPr>
          <a:xfrm>
            <a:off x="401570" y="295387"/>
            <a:ext cx="10715067" cy="4587375"/>
          </a:xfrm>
          <a:prstGeom prst="rect">
            <a:avLst/>
          </a:prstGeom>
        </p:spPr>
      </p:pic>
      <p:sp>
        <p:nvSpPr>
          <p:cNvPr id="31" name="Text Placeholder 3">
            <a:extLst>
              <a:ext uri="{FF2B5EF4-FFF2-40B4-BE49-F238E27FC236}">
                <a16:creationId xmlns:a16="http://schemas.microsoft.com/office/drawing/2014/main" id="{F1239C0E-3F39-787D-0FC3-6B7C9BA37E8F}"/>
              </a:ext>
            </a:extLst>
          </p:cNvPr>
          <p:cNvSpPr>
            <a:spLocks noGrp="1"/>
          </p:cNvSpPr>
          <p:nvPr>
            <p:ph sz="quarter" idx="10"/>
          </p:nvPr>
        </p:nvSpPr>
        <p:spPr>
          <a:xfrm>
            <a:off x="288555" y="4949011"/>
            <a:ext cx="11362339" cy="1327934"/>
          </a:xfrm>
          <a:ln>
            <a:solidFill>
              <a:srgbClr val="00B0F0"/>
            </a:solidFill>
          </a:ln>
          <a:effectLst>
            <a:glow rad="63500">
              <a:schemeClr val="accent1">
                <a:satMod val="175000"/>
                <a:alpha val="40000"/>
              </a:schemeClr>
            </a:glow>
          </a:effectLst>
        </p:spPr>
        <p:txBody>
          <a:bodyPr anchor="t"/>
          <a:lstStyle/>
          <a:p>
            <a:r>
              <a:rPr lang="en-US" sz="2400" b="1" dirty="0"/>
              <a:t>Core Message:</a:t>
            </a:r>
            <a:r>
              <a:rPr lang="en-US" sz="2400" dirty="0"/>
              <a:t> Rate hikes increase operating costs with a time lag. The Fed's rate hikes in 2004–2006 triggered a chain reaction, following the 2008 unemployment crash which forced Fed’s to abandon their inflation targets to save jobs</a:t>
            </a:r>
          </a:p>
        </p:txBody>
      </p:sp>
      <p:sp>
        <p:nvSpPr>
          <p:cNvPr id="2" name="TextBox 1">
            <a:extLst>
              <a:ext uri="{FF2B5EF4-FFF2-40B4-BE49-F238E27FC236}">
                <a16:creationId xmlns:a16="http://schemas.microsoft.com/office/drawing/2014/main" id="{590DE23F-5624-563A-BBEB-C140B04B37C9}"/>
              </a:ext>
            </a:extLst>
          </p:cNvPr>
          <p:cNvSpPr txBox="1"/>
          <p:nvPr/>
        </p:nvSpPr>
        <p:spPr>
          <a:xfrm>
            <a:off x="0" y="6611779"/>
            <a:ext cx="8971280" cy="246221"/>
          </a:xfrm>
          <a:prstGeom prst="rect">
            <a:avLst/>
          </a:prstGeom>
          <a:noFill/>
        </p:spPr>
        <p:txBody>
          <a:bodyPr wrap="square" rtlCol="0">
            <a:spAutoFit/>
          </a:bodyPr>
          <a:lstStyle/>
          <a:p>
            <a:r>
              <a:rPr lang="en-US" sz="1000" dirty="0">
                <a:solidFill>
                  <a:schemeClr val="bg1">
                    <a:lumMod val="75000"/>
                  </a:schemeClr>
                </a:solidFill>
              </a:rPr>
              <a:t>Date Source: Federal Reserve Economic Data (FRED) API; Bureau of Labor Statistics; Federal Reserve Board.</a:t>
            </a:r>
          </a:p>
        </p:txBody>
      </p:sp>
    </p:spTree>
    <p:extLst>
      <p:ext uri="{BB962C8B-B14F-4D97-AF65-F5344CB8AC3E}">
        <p14:creationId xmlns:p14="http://schemas.microsoft.com/office/powerpoint/2010/main" val="1460159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1DB868-BEE2-49F7-9AC5-A3B143880250}"/>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3</a:t>
            </a:fld>
            <a:endParaRPr lang="en-US" dirty="0"/>
          </a:p>
        </p:txBody>
      </p:sp>
      <p:sp>
        <p:nvSpPr>
          <p:cNvPr id="13" name="TextBox 12">
            <a:extLst>
              <a:ext uri="{FF2B5EF4-FFF2-40B4-BE49-F238E27FC236}">
                <a16:creationId xmlns:a16="http://schemas.microsoft.com/office/drawing/2014/main" id="{172774FE-3F54-D9FA-2F84-4D6A7CC62D80}"/>
              </a:ext>
            </a:extLst>
          </p:cNvPr>
          <p:cNvSpPr txBox="1"/>
          <p:nvPr/>
        </p:nvSpPr>
        <p:spPr>
          <a:xfrm>
            <a:off x="0" y="6611779"/>
            <a:ext cx="8971280" cy="246221"/>
          </a:xfrm>
          <a:prstGeom prst="rect">
            <a:avLst/>
          </a:prstGeom>
          <a:noFill/>
        </p:spPr>
        <p:txBody>
          <a:bodyPr wrap="square" rtlCol="0">
            <a:spAutoFit/>
          </a:bodyPr>
          <a:lstStyle/>
          <a:p>
            <a:r>
              <a:rPr lang="en-US" sz="1000" dirty="0">
                <a:solidFill>
                  <a:schemeClr val="bg1">
                    <a:lumMod val="75000"/>
                  </a:schemeClr>
                </a:solidFill>
              </a:rPr>
              <a:t>Date Source: Federal Reserve Economic Data (FRED) API; Bureau of Labor Statistics; Federal Reserve Board.</a:t>
            </a:r>
          </a:p>
        </p:txBody>
      </p:sp>
      <p:sp>
        <p:nvSpPr>
          <p:cNvPr id="3" name="Text Placeholder 3">
            <a:extLst>
              <a:ext uri="{FF2B5EF4-FFF2-40B4-BE49-F238E27FC236}">
                <a16:creationId xmlns:a16="http://schemas.microsoft.com/office/drawing/2014/main" id="{3DE18546-E8E0-0FFE-5153-0D66AD1AEE05}"/>
              </a:ext>
            </a:extLst>
          </p:cNvPr>
          <p:cNvSpPr txBox="1">
            <a:spLocks/>
          </p:cNvSpPr>
          <p:nvPr/>
        </p:nvSpPr>
        <p:spPr>
          <a:xfrm>
            <a:off x="288555" y="5123569"/>
            <a:ext cx="11362339" cy="1327934"/>
          </a:xfrm>
          <a:prstGeom prst="rect">
            <a:avLst/>
          </a:prstGeom>
          <a:ln>
            <a:solidFill>
              <a:srgbClr val="00B0F0"/>
            </a:solidFill>
          </a:ln>
          <a:effectLst>
            <a:glow rad="63500">
              <a:schemeClr val="accent1">
                <a:satMod val="175000"/>
                <a:alpha val="40000"/>
              </a:schemeClr>
            </a:glow>
          </a:effectLst>
        </p:spPr>
        <p:txBody>
          <a:bodyPr anchor="t"/>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solidFill>
                  <a:schemeClr val="bg1"/>
                </a:solidFill>
                <a:latin typeface="+mn-lt"/>
              </a:rPr>
              <a:t>Core Message:</a:t>
            </a:r>
            <a:r>
              <a:rPr lang="en-US" sz="2400" dirty="0">
                <a:solidFill>
                  <a:schemeClr val="bg1"/>
                </a:solidFill>
                <a:latin typeface="+mn-lt"/>
              </a:rPr>
              <a:t> Max employment and stable 2% inflation can coexist, but the data shows it required almost a decade of zero-interest-rate policy and an absence of major economic shocks to achieve this balance.</a:t>
            </a:r>
          </a:p>
        </p:txBody>
      </p:sp>
      <p:pic>
        <p:nvPicPr>
          <p:cNvPr id="8" name="Picture 7">
            <a:extLst>
              <a:ext uri="{FF2B5EF4-FFF2-40B4-BE49-F238E27FC236}">
                <a16:creationId xmlns:a16="http://schemas.microsoft.com/office/drawing/2014/main" id="{9C61AD7C-A692-9D30-4989-97EED89DAEFC}"/>
              </a:ext>
            </a:extLst>
          </p:cNvPr>
          <p:cNvPicPr>
            <a:picLocks noChangeAspect="1"/>
          </p:cNvPicPr>
          <p:nvPr/>
        </p:nvPicPr>
        <p:blipFill>
          <a:blip r:embed="rId3"/>
          <a:stretch>
            <a:fillRect/>
          </a:stretch>
        </p:blipFill>
        <p:spPr>
          <a:xfrm>
            <a:off x="288555" y="104019"/>
            <a:ext cx="10766438" cy="4844992"/>
          </a:xfrm>
          <a:prstGeom prst="rect">
            <a:avLst/>
          </a:prstGeom>
        </p:spPr>
      </p:pic>
    </p:spTree>
    <p:extLst>
      <p:ext uri="{BB962C8B-B14F-4D97-AF65-F5344CB8AC3E}">
        <p14:creationId xmlns:p14="http://schemas.microsoft.com/office/powerpoint/2010/main" val="910315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87B8B6A-2B28-5C38-80E7-0EBE705FFBBF}"/>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4</a:t>
            </a:fld>
            <a:endParaRPr lang="en-US" dirty="0"/>
          </a:p>
        </p:txBody>
      </p:sp>
      <p:sp>
        <p:nvSpPr>
          <p:cNvPr id="7" name="TextBox 6">
            <a:extLst>
              <a:ext uri="{FF2B5EF4-FFF2-40B4-BE49-F238E27FC236}">
                <a16:creationId xmlns:a16="http://schemas.microsoft.com/office/drawing/2014/main" id="{BC6DB861-7947-6398-9238-9F0A5EBA99E7}"/>
              </a:ext>
            </a:extLst>
          </p:cNvPr>
          <p:cNvSpPr txBox="1"/>
          <p:nvPr/>
        </p:nvSpPr>
        <p:spPr>
          <a:xfrm>
            <a:off x="0" y="6611779"/>
            <a:ext cx="8971280" cy="246221"/>
          </a:xfrm>
          <a:prstGeom prst="rect">
            <a:avLst/>
          </a:prstGeom>
          <a:noFill/>
        </p:spPr>
        <p:txBody>
          <a:bodyPr wrap="square" rtlCol="0">
            <a:spAutoFit/>
          </a:bodyPr>
          <a:lstStyle/>
          <a:p>
            <a:r>
              <a:rPr lang="en-US" sz="1000" dirty="0">
                <a:solidFill>
                  <a:schemeClr val="bg1">
                    <a:lumMod val="75000"/>
                  </a:schemeClr>
                </a:solidFill>
              </a:rPr>
              <a:t>Date Source: Federal Reserve Economic Data (FRED) API; Bureau of Labor Statistics; Federal Reserve Board.</a:t>
            </a:r>
          </a:p>
        </p:txBody>
      </p:sp>
      <p:pic>
        <p:nvPicPr>
          <p:cNvPr id="17" name="Picture 16">
            <a:extLst>
              <a:ext uri="{FF2B5EF4-FFF2-40B4-BE49-F238E27FC236}">
                <a16:creationId xmlns:a16="http://schemas.microsoft.com/office/drawing/2014/main" id="{39107584-F18B-1E0B-D50F-E9B0CCD559DD}"/>
              </a:ext>
            </a:extLst>
          </p:cNvPr>
          <p:cNvPicPr>
            <a:picLocks noChangeAspect="1"/>
          </p:cNvPicPr>
          <p:nvPr/>
        </p:nvPicPr>
        <p:blipFill>
          <a:blip r:embed="rId3"/>
          <a:stretch>
            <a:fillRect/>
          </a:stretch>
        </p:blipFill>
        <p:spPr>
          <a:xfrm>
            <a:off x="674872" y="335616"/>
            <a:ext cx="10842256" cy="4867081"/>
          </a:xfrm>
          <a:prstGeom prst="rect">
            <a:avLst/>
          </a:prstGeom>
        </p:spPr>
      </p:pic>
      <p:sp>
        <p:nvSpPr>
          <p:cNvPr id="20" name="Text Placeholder 3">
            <a:extLst>
              <a:ext uri="{FF2B5EF4-FFF2-40B4-BE49-F238E27FC236}">
                <a16:creationId xmlns:a16="http://schemas.microsoft.com/office/drawing/2014/main" id="{B95797A1-0B52-135A-959F-CD69EADFEC77}"/>
              </a:ext>
            </a:extLst>
          </p:cNvPr>
          <p:cNvSpPr txBox="1">
            <a:spLocks/>
          </p:cNvSpPr>
          <p:nvPr/>
        </p:nvSpPr>
        <p:spPr>
          <a:xfrm>
            <a:off x="414831" y="5243271"/>
            <a:ext cx="11469340" cy="1167803"/>
          </a:xfrm>
          <a:prstGeom prst="rect">
            <a:avLst/>
          </a:prstGeom>
          <a:ln>
            <a:solidFill>
              <a:srgbClr val="00B0F0"/>
            </a:solidFill>
          </a:ln>
          <a:effectLst>
            <a:glow rad="63500">
              <a:schemeClr val="accent1">
                <a:satMod val="175000"/>
                <a:alpha val="40000"/>
              </a:schemeClr>
            </a:glow>
          </a:effectLst>
        </p:spPr>
        <p:txBody>
          <a:bodyPr anchor="t"/>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solidFill>
                  <a:schemeClr val="bg1"/>
                </a:solidFill>
                <a:latin typeface="+mn-lt"/>
              </a:rPr>
              <a:t>Core Message</a:t>
            </a:r>
            <a:r>
              <a:rPr lang="en-US" sz="2400" dirty="0">
                <a:solidFill>
                  <a:schemeClr val="bg1"/>
                </a:solidFill>
                <a:latin typeface="+mn-lt"/>
              </a:rPr>
              <a:t>: The intersection of the line in 2022 proves the contradiction: to crush 40 year long inflation, the Fed was forced to spike borrowing costs which risks higher unemployment</a:t>
            </a:r>
          </a:p>
        </p:txBody>
      </p:sp>
    </p:spTree>
    <p:extLst>
      <p:ext uri="{BB962C8B-B14F-4D97-AF65-F5344CB8AC3E}">
        <p14:creationId xmlns:p14="http://schemas.microsoft.com/office/powerpoint/2010/main" val="2728059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6A971A9-0C5C-DDFC-67F9-2E5A55F12F67}"/>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5</a:t>
            </a:fld>
            <a:endParaRPr lang="en-US" dirty="0"/>
          </a:p>
        </p:txBody>
      </p:sp>
      <p:sp>
        <p:nvSpPr>
          <p:cNvPr id="6" name="TextBox 5">
            <a:extLst>
              <a:ext uri="{FF2B5EF4-FFF2-40B4-BE49-F238E27FC236}">
                <a16:creationId xmlns:a16="http://schemas.microsoft.com/office/drawing/2014/main" id="{435C79D4-DA20-AD29-EC00-9A5A49FE717B}"/>
              </a:ext>
            </a:extLst>
          </p:cNvPr>
          <p:cNvSpPr txBox="1"/>
          <p:nvPr/>
        </p:nvSpPr>
        <p:spPr>
          <a:xfrm>
            <a:off x="0" y="6611779"/>
            <a:ext cx="8971280" cy="246221"/>
          </a:xfrm>
          <a:prstGeom prst="rect">
            <a:avLst/>
          </a:prstGeom>
          <a:noFill/>
        </p:spPr>
        <p:txBody>
          <a:bodyPr wrap="square" rtlCol="0">
            <a:spAutoFit/>
          </a:bodyPr>
          <a:lstStyle/>
          <a:p>
            <a:r>
              <a:rPr lang="en-US" sz="1000" dirty="0">
                <a:solidFill>
                  <a:schemeClr val="bg1">
                    <a:lumMod val="75000"/>
                  </a:schemeClr>
                </a:solidFill>
              </a:rPr>
              <a:t>Date Source: Federal Reserve Economic Data (FRED) API; Bureau of Labor Statistics; Federal Reserve Board.</a:t>
            </a:r>
          </a:p>
        </p:txBody>
      </p:sp>
      <p:sp>
        <p:nvSpPr>
          <p:cNvPr id="4" name="Text Placeholder 3">
            <a:extLst>
              <a:ext uri="{FF2B5EF4-FFF2-40B4-BE49-F238E27FC236}">
                <a16:creationId xmlns:a16="http://schemas.microsoft.com/office/drawing/2014/main" id="{20350583-427B-7A1B-1046-ECDA7F6D79E7}"/>
              </a:ext>
            </a:extLst>
          </p:cNvPr>
          <p:cNvSpPr txBox="1">
            <a:spLocks/>
          </p:cNvSpPr>
          <p:nvPr/>
        </p:nvSpPr>
        <p:spPr>
          <a:xfrm>
            <a:off x="9349483" y="752722"/>
            <a:ext cx="2534688" cy="4867241"/>
          </a:xfrm>
          <a:prstGeom prst="rect">
            <a:avLst/>
          </a:prstGeom>
          <a:ln>
            <a:solidFill>
              <a:srgbClr val="00B0F0"/>
            </a:solidFill>
          </a:ln>
          <a:effectLst>
            <a:glow rad="63500">
              <a:schemeClr val="accent1">
                <a:satMod val="175000"/>
                <a:alpha val="40000"/>
              </a:schemeClr>
            </a:glow>
          </a:effectLst>
        </p:spPr>
        <p:txBody>
          <a:bodyPr anchor="t"/>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solidFill>
                  <a:schemeClr val="bg1"/>
                </a:solidFill>
                <a:latin typeface="+mn-lt"/>
              </a:rPr>
              <a:t>Core Message: E</a:t>
            </a:r>
            <a:r>
              <a:rPr lang="en-US" sz="2400" dirty="0">
                <a:solidFill>
                  <a:schemeClr val="bg1"/>
                </a:solidFill>
                <a:latin typeface="+mn-lt"/>
              </a:rPr>
              <a:t>conomy never rests in the "Target Bullseye“ </a:t>
            </a:r>
          </a:p>
          <a:p>
            <a:endParaRPr lang="en-US" sz="2400" dirty="0">
              <a:solidFill>
                <a:schemeClr val="bg1"/>
              </a:solidFill>
              <a:latin typeface="+mn-lt"/>
            </a:endParaRPr>
          </a:p>
          <a:p>
            <a:r>
              <a:rPr lang="en-US" sz="2400" dirty="0">
                <a:solidFill>
                  <a:schemeClr val="bg1"/>
                </a:solidFill>
                <a:latin typeface="+mn-lt"/>
              </a:rPr>
              <a:t>Over 25 years, fixing 1 crisis always needed applying interest-rate pressure that disrupts the other side of the mandate</a:t>
            </a:r>
          </a:p>
        </p:txBody>
      </p:sp>
      <p:pic>
        <p:nvPicPr>
          <p:cNvPr id="8" name="Picture 7">
            <a:extLst>
              <a:ext uri="{FF2B5EF4-FFF2-40B4-BE49-F238E27FC236}">
                <a16:creationId xmlns:a16="http://schemas.microsoft.com/office/drawing/2014/main" id="{84B3A437-E4A2-AC37-3C18-4322847650B3}"/>
              </a:ext>
            </a:extLst>
          </p:cNvPr>
          <p:cNvPicPr>
            <a:picLocks noChangeAspect="1"/>
          </p:cNvPicPr>
          <p:nvPr/>
        </p:nvPicPr>
        <p:blipFill>
          <a:blip r:embed="rId3"/>
          <a:stretch>
            <a:fillRect/>
          </a:stretch>
        </p:blipFill>
        <p:spPr>
          <a:xfrm>
            <a:off x="146930" y="202511"/>
            <a:ext cx="9117708" cy="6023686"/>
          </a:xfrm>
          <a:prstGeom prst="rect">
            <a:avLst/>
          </a:prstGeom>
        </p:spPr>
      </p:pic>
    </p:spTree>
    <p:extLst>
      <p:ext uri="{BB962C8B-B14F-4D97-AF65-F5344CB8AC3E}">
        <p14:creationId xmlns:p14="http://schemas.microsoft.com/office/powerpoint/2010/main" val="1397193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78000">
              <a:schemeClr val="accent6">
                <a:lumMod val="50000"/>
              </a:schemeClr>
            </a:gs>
            <a:gs pos="35040">
              <a:srgbClr val="020B11"/>
            </a:gs>
            <a:gs pos="11979">
              <a:schemeClr val="accent4">
                <a:lumMod val="50000"/>
              </a:schemeClr>
            </a:gs>
            <a:gs pos="0">
              <a:schemeClr val="accent4"/>
            </a:gs>
            <a:gs pos="99000">
              <a:schemeClr val="tx2">
                <a:lumMod val="50000"/>
              </a:schemeClr>
            </a:gs>
          </a:gsLst>
          <a:lin ang="7800000" scaled="0"/>
        </a:gradFill>
        <a:effectLst/>
      </p:bgPr>
    </p:bg>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CE1ABEC8-43FD-4F21-A7D2-70200D86263C}"/>
              </a:ext>
            </a:extLst>
          </p:cNvPr>
          <p:cNvSpPr>
            <a:spLocks noGrp="1"/>
          </p:cNvSpPr>
          <p:nvPr>
            <p:ph type="title"/>
          </p:nvPr>
        </p:nvSpPr>
        <p:spPr>
          <a:xfrm>
            <a:off x="442075" y="1240010"/>
            <a:ext cx="11486267" cy="838571"/>
          </a:xfrm>
        </p:spPr>
        <p:txBody>
          <a:bodyPr/>
          <a:lstStyle/>
          <a:p>
            <a:r>
              <a:rPr lang="en-US" dirty="0"/>
              <a:t>Fulfill congress mandate? By balancing</a:t>
            </a:r>
          </a:p>
        </p:txBody>
      </p:sp>
      <p:sp>
        <p:nvSpPr>
          <p:cNvPr id="14" name="Text Placeholder 2">
            <a:extLst>
              <a:ext uri="{FF2B5EF4-FFF2-40B4-BE49-F238E27FC236}">
                <a16:creationId xmlns:a16="http://schemas.microsoft.com/office/drawing/2014/main" id="{AE5F2E56-9F77-E1C2-EC04-EA959822CA61}"/>
              </a:ext>
            </a:extLst>
          </p:cNvPr>
          <p:cNvSpPr>
            <a:spLocks noGrp="1"/>
          </p:cNvSpPr>
          <p:nvPr>
            <p:ph sz="quarter" idx="14"/>
          </p:nvPr>
        </p:nvSpPr>
        <p:spPr>
          <a:xfrm>
            <a:off x="824802" y="2822641"/>
            <a:ext cx="10542395" cy="3466647"/>
          </a:xfrm>
        </p:spPr>
        <p:txBody>
          <a:bodyPr/>
          <a:lstStyle/>
          <a:p>
            <a:pPr lvl="0"/>
            <a:r>
              <a:rPr lang="en-US" b="1" dirty="0"/>
              <a:t>1. Are these contradictory objectives?</a:t>
            </a:r>
            <a:endParaRPr lang="en-US" dirty="0"/>
          </a:p>
          <a:p>
            <a:pPr lvl="1"/>
            <a:r>
              <a:rPr lang="en-US" sz="1800" dirty="0">
                <a:solidFill>
                  <a:schemeClr val="accent3">
                    <a:lumMod val="75000"/>
                  </a:schemeClr>
                </a:solidFill>
              </a:rPr>
              <a:t>YES. </a:t>
            </a:r>
            <a:r>
              <a:rPr lang="en-US" sz="1800" dirty="0"/>
              <a:t>The data proves that using the interest rate scale to keep unemployment low (cutting rates), eventually pushes inflation up, and fighting inflation (hiking rates) risks decreasing demand for labor (unemployment up)</a:t>
            </a:r>
          </a:p>
          <a:p>
            <a:pPr lvl="0"/>
            <a:r>
              <a:rPr lang="en-US" b="1" dirty="0"/>
              <a:t>2.</a:t>
            </a:r>
            <a:r>
              <a:rPr lang="en-US" dirty="0"/>
              <a:t> </a:t>
            </a:r>
            <a:r>
              <a:rPr lang="en-US" b="1" dirty="0"/>
              <a:t>Has the FED been able to fulfill the mandate?</a:t>
            </a:r>
            <a:endParaRPr lang="en-US" sz="1600" b="1" dirty="0"/>
          </a:p>
          <a:p>
            <a:pPr lvl="1"/>
            <a:r>
              <a:rPr lang="en-US" sz="1800" dirty="0">
                <a:solidFill>
                  <a:schemeClr val="accent3">
                    <a:lumMod val="75000"/>
                  </a:schemeClr>
                </a:solidFill>
              </a:rPr>
              <a:t>YES, </a:t>
            </a:r>
            <a:r>
              <a:rPr lang="en-US" sz="1800" dirty="0"/>
              <a:t>but with constant change. Over a 25-year timeline, the Fed acts as a shock absorber: prevent long-term deflation spirals and keep inflation peaks steady by trading off one side of the mandate for the other based on the current economic crisis</a:t>
            </a:r>
          </a:p>
        </p:txBody>
      </p:sp>
      <p:sp>
        <p:nvSpPr>
          <p:cNvPr id="3" name="TextBox 2">
            <a:extLst>
              <a:ext uri="{FF2B5EF4-FFF2-40B4-BE49-F238E27FC236}">
                <a16:creationId xmlns:a16="http://schemas.microsoft.com/office/drawing/2014/main" id="{FF96A80E-F544-0447-178C-CBE04136AD78}"/>
              </a:ext>
            </a:extLst>
          </p:cNvPr>
          <p:cNvSpPr txBox="1"/>
          <p:nvPr/>
        </p:nvSpPr>
        <p:spPr>
          <a:xfrm>
            <a:off x="0" y="6611779"/>
            <a:ext cx="8971280" cy="246221"/>
          </a:xfrm>
          <a:prstGeom prst="rect">
            <a:avLst/>
          </a:prstGeom>
          <a:noFill/>
        </p:spPr>
        <p:txBody>
          <a:bodyPr wrap="square" rtlCol="0">
            <a:spAutoFit/>
          </a:bodyPr>
          <a:lstStyle/>
          <a:p>
            <a:r>
              <a:rPr lang="en-US" sz="1000" dirty="0">
                <a:solidFill>
                  <a:schemeClr val="bg1">
                    <a:lumMod val="75000"/>
                  </a:schemeClr>
                </a:solidFill>
              </a:rPr>
              <a:t>Date Source: Federal Reserve Economic Data (FRED) API; Bureau of Labor Statistics; Federal Reserve Board.</a:t>
            </a:r>
          </a:p>
        </p:txBody>
      </p:sp>
    </p:spTree>
    <p:extLst>
      <p:ext uri="{BB962C8B-B14F-4D97-AF65-F5344CB8AC3E}">
        <p14:creationId xmlns:p14="http://schemas.microsoft.com/office/powerpoint/2010/main" val="2395464980"/>
      </p:ext>
    </p:extLst>
  </p:cSld>
  <p:clrMapOvr>
    <a:masterClrMapping/>
  </p:clrMapOvr>
</p:sld>
</file>

<file path=ppt/theme/theme1.xml><?xml version="1.0" encoding="utf-8"?>
<a:theme xmlns:a="http://schemas.openxmlformats.org/drawingml/2006/main" name="Custom">
  <a:themeElements>
    <a:clrScheme name="Custom 17">
      <a:dk1>
        <a:srgbClr val="000000"/>
      </a:dk1>
      <a:lt1>
        <a:srgbClr val="FFFFFF"/>
      </a:lt1>
      <a:dk2>
        <a:srgbClr val="FC4EFB"/>
      </a:dk2>
      <a:lt2>
        <a:srgbClr val="E7E6E6"/>
      </a:lt2>
      <a:accent1>
        <a:srgbClr val="FAF24C"/>
      </a:accent1>
      <a:accent2>
        <a:srgbClr val="5EFCAC"/>
      </a:accent2>
      <a:accent3>
        <a:srgbClr val="73EBF9"/>
      </a:accent3>
      <a:accent4>
        <a:srgbClr val="316CFC"/>
      </a:accent4>
      <a:accent5>
        <a:srgbClr val="B059FD"/>
      </a:accent5>
      <a:accent6>
        <a:srgbClr val="9405FC"/>
      </a:accent6>
      <a:hlink>
        <a:srgbClr val="FFFFFF"/>
      </a:hlink>
      <a:folHlink>
        <a:srgbClr val="FFFFFF"/>
      </a:folHlink>
    </a:clrScheme>
    <a:fontScheme name="Custom 15">
      <a:majorFont>
        <a:latin typeface="Biome"/>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36837_win32_SL_V11" id="{EAD6EF7B-6F25-4469-AF6A-07D6EB1461DD}" vid="{30FEA78B-2F89-4FF0-8415-E3920802C5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137456-21FC-4AE2-8A94-BF06CAF2EB9B}">
  <ds:schemaRefs>
    <ds:schemaRef ds:uri="http://schemas.microsoft.com/sharepoint/v3/contenttype/forms"/>
  </ds:schemaRefs>
</ds:datastoreItem>
</file>

<file path=customXml/itemProps2.xml><?xml version="1.0" encoding="utf-8"?>
<ds:datastoreItem xmlns:ds="http://schemas.openxmlformats.org/officeDocument/2006/customXml" ds:itemID="{E305301E-11B3-4B9D-A588-21F3C980937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77B561B-3A65-4A22-9691-EB838E7F9B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Scientific findings presentation</Template>
  <TotalTime>125</TotalTime>
  <Words>541</Words>
  <Application>Microsoft Office PowerPoint</Application>
  <PresentationFormat>Widescreen</PresentationFormat>
  <Paragraphs>34</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Arial Nova</vt:lpstr>
      <vt:lpstr>Biome</vt:lpstr>
      <vt:lpstr>Calibri</vt:lpstr>
      <vt:lpstr>Custom</vt:lpstr>
      <vt:lpstr>Federal reserve’s dual mandate</vt:lpstr>
      <vt:lpstr>PowerPoint Presentation</vt:lpstr>
      <vt:lpstr>PowerPoint Presentation</vt:lpstr>
      <vt:lpstr>PowerPoint Presentation</vt:lpstr>
      <vt:lpstr>PowerPoint Presentation</vt:lpstr>
      <vt:lpstr>Fulfill congress mandate? By balancing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Maggie</dc:creator>
  <cp:lastModifiedBy>Maggie</cp:lastModifiedBy>
  <cp:revision>4</cp:revision>
  <dcterms:created xsi:type="dcterms:W3CDTF">2026-09-19T19:43:45Z</dcterms:created>
  <dcterms:modified xsi:type="dcterms:W3CDTF">2026-09-29T00:33:52Z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