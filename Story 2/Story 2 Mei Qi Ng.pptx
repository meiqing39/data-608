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1"/>
  </p:notesMasterIdLst>
  <p:handoutMasterIdLst>
    <p:handoutMasterId r:id="rId12"/>
  </p:handoutMasterIdLst>
  <p:sldIdLst>
    <p:sldId id="342" r:id="rId5"/>
    <p:sldId id="359" r:id="rId6"/>
    <p:sldId id="378" r:id="rId7"/>
    <p:sldId id="377" r:id="rId8"/>
    <p:sldId id="373" r:id="rId9"/>
    <p:sldId id="37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3791" autoAdjust="0"/>
  </p:normalViewPr>
  <p:slideViewPr>
    <p:cSldViewPr snapToGrid="0" snapToObjects="1" showGuides="1">
      <p:cViewPr varScale="1">
        <p:scale>
          <a:sx n="69" d="100"/>
          <a:sy n="69" d="100"/>
        </p:scale>
        <p:origin x="341" y="6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9/19/2026</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9/19/2026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Story Development Focus: </a:t>
            </a:r>
          </a:p>
          <a:p>
            <a:pPr lvl="0"/>
            <a:r>
              <a:rPr lang="en-US" b="0" dirty="0"/>
              <a:t>Simplicity (Data-Ink Ratio): </a:t>
            </a:r>
            <a:r>
              <a:rPr lang="en-US" dirty="0"/>
              <a:t>Removed grey, gridlines and bounding boxes; increased label sizes for readability.</a:t>
            </a:r>
          </a:p>
          <a:p>
            <a:pPr lvl="0"/>
            <a:r>
              <a:rPr lang="en-US" b="0" dirty="0"/>
              <a:t>Saliency: </a:t>
            </a:r>
            <a:r>
              <a:rPr lang="en-US" dirty="0"/>
              <a:t>Added targeted vertical lines market to highlight exact moments of Fed policy intervention and events</a:t>
            </a:r>
          </a:p>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3</a:t>
            </a:fld>
            <a:endParaRPr lang="en-US" dirty="0"/>
          </a:p>
        </p:txBody>
      </p:sp>
    </p:spTree>
    <p:extLst>
      <p:ext uri="{BB962C8B-B14F-4D97-AF65-F5344CB8AC3E}">
        <p14:creationId xmlns:p14="http://schemas.microsoft.com/office/powerpoint/2010/main" val="37651255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4</a:t>
            </a:fld>
            <a:endParaRPr lang="en-US" dirty="0"/>
          </a:p>
        </p:txBody>
      </p:sp>
    </p:spTree>
    <p:extLst>
      <p:ext uri="{BB962C8B-B14F-4D97-AF65-F5344CB8AC3E}">
        <p14:creationId xmlns:p14="http://schemas.microsoft.com/office/powerpoint/2010/main" val="7124872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Phillips curve concept (when unemployment is low, inflation goes up and unemployment high inflation goes down)</a:t>
            </a:r>
          </a:p>
        </p:txBody>
      </p:sp>
      <p:sp>
        <p:nvSpPr>
          <p:cNvPr id="4" name="Slide Number Placeholder 3"/>
          <p:cNvSpPr>
            <a:spLocks noGrp="1"/>
          </p:cNvSpPr>
          <p:nvPr>
            <p:ph type="sldNum" sz="quarter" idx="5"/>
          </p:nvPr>
        </p:nvSpPr>
        <p:spPr/>
        <p:txBody>
          <a:bodyPr/>
          <a:lstStyle/>
          <a:p>
            <a:fld id="{DEF75CB5-5666-5049-9AE0-38EFD385C21E}" type="slidenum">
              <a:rPr lang="en-US" smtClean="0"/>
              <a:t>5</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6</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Federal reserve’s dual mandate</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1653212"/>
          </a:xfrm>
        </p:spPr>
        <p:txBody>
          <a:bodyPr/>
          <a:lstStyle/>
          <a:p>
            <a:r>
              <a:rPr lang="en-US" dirty="0">
                <a:solidFill>
                  <a:schemeClr val="bg1"/>
                </a:solidFill>
              </a:rPr>
              <a:t>Inflation vs unemployment balance</a:t>
            </a:r>
          </a:p>
          <a:p>
            <a:r>
              <a:rPr lang="en-US" sz="2000" dirty="0">
                <a:solidFill>
                  <a:schemeClr val="accent3">
                    <a:lumMod val="75000"/>
                  </a:schemeClr>
                </a:solidFill>
              </a:rPr>
              <a:t>Mei Qi Ng | FALL 2026 DATA 608: Story 2</a:t>
            </a:r>
          </a:p>
        </p:txBody>
      </p:sp>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100000">
              <a:schemeClr val="tx2"/>
            </a:gs>
            <a:gs pos="81000">
              <a:schemeClr val="accent6"/>
            </a:gs>
            <a:gs pos="55000">
              <a:srgbClr val="02090E"/>
            </a:gs>
            <a:gs pos="14000">
              <a:schemeClr val="accent4">
                <a:lumMod val="75000"/>
              </a:schemeClr>
            </a:gs>
            <a:gs pos="0">
              <a:schemeClr val="accent4"/>
            </a:gs>
          </a:gsLst>
          <a:lin ang="2700000" scaled="1"/>
          <a:tileRect/>
        </a:gra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422119" y="125819"/>
            <a:ext cx="10212658" cy="729669"/>
          </a:xfrm>
        </p:spPr>
        <p:txBody>
          <a:bodyPr/>
          <a:lstStyle/>
          <a:p>
            <a:r>
              <a:rPr lang="en-US" dirty="0"/>
              <a:t>great recession &amp; rate cuts </a:t>
            </a:r>
          </a:p>
        </p:txBody>
      </p:sp>
      <p:sp>
        <p:nvSpPr>
          <p:cNvPr id="31" name="Text Placeholder 3">
            <a:extLst>
              <a:ext uri="{FF2B5EF4-FFF2-40B4-BE49-F238E27FC236}">
                <a16:creationId xmlns:a16="http://schemas.microsoft.com/office/drawing/2014/main" id="{F1239C0E-3F39-787D-0FC3-6B7C9BA37E8F}"/>
              </a:ext>
            </a:extLst>
          </p:cNvPr>
          <p:cNvSpPr>
            <a:spLocks noGrp="1"/>
          </p:cNvSpPr>
          <p:nvPr>
            <p:ph sz="quarter" idx="10"/>
          </p:nvPr>
        </p:nvSpPr>
        <p:spPr>
          <a:xfrm>
            <a:off x="9932250" y="1612702"/>
            <a:ext cx="2055311" cy="3632595"/>
          </a:xfrm>
        </p:spPr>
        <p:txBody>
          <a:bodyPr anchor="t"/>
          <a:lstStyle/>
          <a:p>
            <a:r>
              <a:rPr lang="en-US" sz="1500" dirty="0"/>
              <a:t>A chronological line chart was selected to track the sequence of events over time; to prove rate hikes increase operating costs, which happened before the unemployment spike</a:t>
            </a:r>
          </a:p>
        </p:txBody>
      </p:sp>
      <p:sp>
        <p:nvSpPr>
          <p:cNvPr id="2" name="TextBox 1">
            <a:extLst>
              <a:ext uri="{FF2B5EF4-FFF2-40B4-BE49-F238E27FC236}">
                <a16:creationId xmlns:a16="http://schemas.microsoft.com/office/drawing/2014/main" id="{590DE23F-5624-563A-BBEB-C140B04B37C9}"/>
              </a:ext>
            </a:extLst>
          </p:cNvPr>
          <p:cNvSpPr txBox="1"/>
          <p:nvPr/>
        </p:nvSpPr>
        <p:spPr>
          <a:xfrm>
            <a:off x="0" y="6611779"/>
            <a:ext cx="8971280" cy="246221"/>
          </a:xfrm>
          <a:prstGeom prst="rect">
            <a:avLst/>
          </a:prstGeom>
          <a:noFill/>
        </p:spPr>
        <p:txBody>
          <a:bodyPr wrap="square" rtlCol="0">
            <a:spAutoFit/>
          </a:bodyPr>
          <a:lstStyle/>
          <a:p>
            <a:r>
              <a:rPr lang="en-US" sz="1000" dirty="0">
                <a:solidFill>
                  <a:schemeClr val="bg1">
                    <a:lumMod val="75000"/>
                  </a:schemeClr>
                </a:solidFill>
              </a:rPr>
              <a:t>Date Source: Federal Reserve Economic Data (FRED) API; Bureau of Labor Statistics; Federal Reserve Board.</a:t>
            </a:r>
          </a:p>
        </p:txBody>
      </p:sp>
      <p:sp>
        <p:nvSpPr>
          <p:cNvPr id="3" name="Title 6">
            <a:extLst>
              <a:ext uri="{FF2B5EF4-FFF2-40B4-BE49-F238E27FC236}">
                <a16:creationId xmlns:a16="http://schemas.microsoft.com/office/drawing/2014/main" id="{9DC1D6D2-854B-0E75-2010-DE681260A6CE}"/>
              </a:ext>
            </a:extLst>
          </p:cNvPr>
          <p:cNvSpPr txBox="1">
            <a:spLocks/>
          </p:cNvSpPr>
          <p:nvPr/>
        </p:nvSpPr>
        <p:spPr>
          <a:xfrm>
            <a:off x="422118" y="796841"/>
            <a:ext cx="11769881" cy="72966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300" baseline="0">
                <a:solidFill>
                  <a:schemeClr val="accent3">
                    <a:lumMod val="75000"/>
                  </a:schemeClr>
                </a:solidFill>
                <a:latin typeface="+mj-lt"/>
                <a:ea typeface="+mj-ea"/>
                <a:cs typeface="Biome" panose="020B0503030204020804" pitchFamily="34" charset="0"/>
              </a:defRPr>
            </a:lvl1pPr>
          </a:lstStyle>
          <a:p>
            <a:r>
              <a:rPr lang="en-US" sz="2000" dirty="0">
                <a:solidFill>
                  <a:schemeClr val="bg1"/>
                </a:solidFill>
              </a:rPr>
              <a:t>Fed cuts rates to zero as unemployment skyrockets, abandoning inflation defense</a:t>
            </a:r>
          </a:p>
        </p:txBody>
      </p:sp>
      <p:pic>
        <p:nvPicPr>
          <p:cNvPr id="6" name="Picture 5">
            <a:extLst>
              <a:ext uri="{FF2B5EF4-FFF2-40B4-BE49-F238E27FC236}">
                <a16:creationId xmlns:a16="http://schemas.microsoft.com/office/drawing/2014/main" id="{11B4C2A5-3226-EFA0-8E51-BDFAE15052C9}"/>
              </a:ext>
            </a:extLst>
          </p:cNvPr>
          <p:cNvPicPr>
            <a:picLocks noChangeAspect="1"/>
          </p:cNvPicPr>
          <p:nvPr/>
        </p:nvPicPr>
        <p:blipFill>
          <a:blip r:embed="rId3"/>
          <a:stretch>
            <a:fillRect/>
          </a:stretch>
        </p:blipFill>
        <p:spPr>
          <a:xfrm>
            <a:off x="465043" y="1526510"/>
            <a:ext cx="9080401" cy="4902765"/>
          </a:xfrm>
          <a:prstGeom prst="rect">
            <a:avLst/>
          </a:prstGeom>
        </p:spPr>
      </p:pic>
    </p:spTree>
    <p:extLst>
      <p:ext uri="{BB962C8B-B14F-4D97-AF65-F5344CB8AC3E}">
        <p14:creationId xmlns:p14="http://schemas.microsoft.com/office/powerpoint/2010/main" val="1460159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B8B-0AB9-7554-AEEA-E8D744959E9A}"/>
              </a:ext>
            </a:extLst>
          </p:cNvPr>
          <p:cNvSpPr>
            <a:spLocks noGrp="1"/>
          </p:cNvSpPr>
          <p:nvPr>
            <p:ph type="title"/>
          </p:nvPr>
        </p:nvSpPr>
        <p:spPr>
          <a:xfrm>
            <a:off x="343860" y="288029"/>
            <a:ext cx="9681086" cy="655698"/>
          </a:xfrm>
        </p:spPr>
        <p:txBody>
          <a:bodyPr/>
          <a:lstStyle/>
          <a:p>
            <a:pPr lvl="0"/>
            <a:r>
              <a:rPr lang="en-US" dirty="0"/>
              <a:t>Long Recovery (2010–2019)</a:t>
            </a:r>
            <a:endParaRPr lang="en-US" noProof="0" dirty="0"/>
          </a:p>
        </p:txBody>
      </p:sp>
      <p:sp>
        <p:nvSpPr>
          <p:cNvPr id="4" name="Slide Number Placeholder 3">
            <a:extLst>
              <a:ext uri="{FF2B5EF4-FFF2-40B4-BE49-F238E27FC236}">
                <a16:creationId xmlns:a16="http://schemas.microsoft.com/office/drawing/2014/main" id="{921DB868-BEE2-49F7-9AC5-A3B143880250}"/>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3</a:t>
            </a:fld>
            <a:endParaRPr lang="en-US" dirty="0"/>
          </a:p>
        </p:txBody>
      </p:sp>
      <p:sp>
        <p:nvSpPr>
          <p:cNvPr id="9" name="Title 6">
            <a:extLst>
              <a:ext uri="{FF2B5EF4-FFF2-40B4-BE49-F238E27FC236}">
                <a16:creationId xmlns:a16="http://schemas.microsoft.com/office/drawing/2014/main" id="{53399800-422E-CCDD-86CE-8FA2B916A070}"/>
              </a:ext>
            </a:extLst>
          </p:cNvPr>
          <p:cNvSpPr txBox="1">
            <a:spLocks/>
          </p:cNvSpPr>
          <p:nvPr/>
        </p:nvSpPr>
        <p:spPr>
          <a:xfrm>
            <a:off x="343860" y="796841"/>
            <a:ext cx="11299717" cy="72966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300" baseline="0">
                <a:solidFill>
                  <a:schemeClr val="accent3">
                    <a:lumMod val="75000"/>
                  </a:schemeClr>
                </a:solidFill>
                <a:latin typeface="+mj-lt"/>
                <a:ea typeface="+mj-ea"/>
                <a:cs typeface="Biome" panose="020B0503030204020804" pitchFamily="34" charset="0"/>
              </a:defRPr>
            </a:lvl1pPr>
          </a:lstStyle>
          <a:p>
            <a:r>
              <a:rPr lang="en-US" sz="2000" dirty="0">
                <a:solidFill>
                  <a:schemeClr val="bg1"/>
                </a:solidFill>
              </a:rPr>
              <a:t>A decade of near-zero rates achieves full employment without triggering inflation.</a:t>
            </a:r>
          </a:p>
        </p:txBody>
      </p:sp>
      <p:pic>
        <p:nvPicPr>
          <p:cNvPr id="11" name="Picture 10">
            <a:extLst>
              <a:ext uri="{FF2B5EF4-FFF2-40B4-BE49-F238E27FC236}">
                <a16:creationId xmlns:a16="http://schemas.microsoft.com/office/drawing/2014/main" id="{6E68CA6D-18A9-1B2C-2418-A7F3D2C5609C}"/>
              </a:ext>
            </a:extLst>
          </p:cNvPr>
          <p:cNvPicPr>
            <a:picLocks noChangeAspect="1"/>
          </p:cNvPicPr>
          <p:nvPr/>
        </p:nvPicPr>
        <p:blipFill>
          <a:blip r:embed="rId3"/>
          <a:stretch>
            <a:fillRect/>
          </a:stretch>
        </p:blipFill>
        <p:spPr>
          <a:xfrm>
            <a:off x="343859" y="1698552"/>
            <a:ext cx="9499221" cy="4527645"/>
          </a:xfrm>
          <a:prstGeom prst="rect">
            <a:avLst/>
          </a:prstGeom>
        </p:spPr>
      </p:pic>
      <p:sp>
        <p:nvSpPr>
          <p:cNvPr id="13" name="TextBox 12">
            <a:extLst>
              <a:ext uri="{FF2B5EF4-FFF2-40B4-BE49-F238E27FC236}">
                <a16:creationId xmlns:a16="http://schemas.microsoft.com/office/drawing/2014/main" id="{172774FE-3F54-D9FA-2F84-4D6A7CC62D80}"/>
              </a:ext>
            </a:extLst>
          </p:cNvPr>
          <p:cNvSpPr txBox="1"/>
          <p:nvPr/>
        </p:nvSpPr>
        <p:spPr>
          <a:xfrm>
            <a:off x="0" y="6611779"/>
            <a:ext cx="8971280" cy="246221"/>
          </a:xfrm>
          <a:prstGeom prst="rect">
            <a:avLst/>
          </a:prstGeom>
          <a:noFill/>
        </p:spPr>
        <p:txBody>
          <a:bodyPr wrap="square" rtlCol="0">
            <a:spAutoFit/>
          </a:bodyPr>
          <a:lstStyle/>
          <a:p>
            <a:r>
              <a:rPr lang="en-US" sz="1000" dirty="0">
                <a:solidFill>
                  <a:schemeClr val="bg1">
                    <a:lumMod val="75000"/>
                  </a:schemeClr>
                </a:solidFill>
              </a:rPr>
              <a:t>Date Source: Federal Reserve Economic Data (FRED) API; Bureau of Labor Statistics; Federal Reserve Board.</a:t>
            </a:r>
          </a:p>
        </p:txBody>
      </p:sp>
      <p:sp>
        <p:nvSpPr>
          <p:cNvPr id="19" name="Text Placeholder 3">
            <a:extLst>
              <a:ext uri="{FF2B5EF4-FFF2-40B4-BE49-F238E27FC236}">
                <a16:creationId xmlns:a16="http://schemas.microsoft.com/office/drawing/2014/main" id="{DAD5E094-CD20-2E57-FA85-8D6E3726BF31}"/>
              </a:ext>
            </a:extLst>
          </p:cNvPr>
          <p:cNvSpPr txBox="1">
            <a:spLocks/>
          </p:cNvSpPr>
          <p:nvPr/>
        </p:nvSpPr>
        <p:spPr>
          <a:xfrm>
            <a:off x="10024946" y="3760216"/>
            <a:ext cx="2133724" cy="3632595"/>
          </a:xfrm>
          <a:prstGeom prst="rect">
            <a:avLst/>
          </a:prstGeom>
        </p:spPr>
        <p:txBody>
          <a:bodyPr anchor="t"/>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dirty="0">
                <a:solidFill>
                  <a:schemeClr val="bg1"/>
                </a:solidFill>
                <a:latin typeface="+mn-lt"/>
              </a:rPr>
              <a:t>A line chart was used to show the prolonged stability of the dual mandate over a 10 year timeline, revealing the exact point (“liftoff hike”) when the Fed felt the labor market had recovered </a:t>
            </a:r>
          </a:p>
        </p:txBody>
      </p:sp>
    </p:spTree>
    <p:extLst>
      <p:ext uri="{BB962C8B-B14F-4D97-AF65-F5344CB8AC3E}">
        <p14:creationId xmlns:p14="http://schemas.microsoft.com/office/powerpoint/2010/main" val="910315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83E06-8BEA-1DD3-D0D6-391C08880EBF}"/>
              </a:ext>
            </a:extLst>
          </p:cNvPr>
          <p:cNvSpPr>
            <a:spLocks noGrp="1"/>
          </p:cNvSpPr>
          <p:nvPr>
            <p:ph type="title"/>
          </p:nvPr>
        </p:nvSpPr>
        <p:spPr>
          <a:xfrm>
            <a:off x="584454" y="468443"/>
            <a:ext cx="10500989" cy="653923"/>
          </a:xfrm>
        </p:spPr>
        <p:txBody>
          <a:bodyPr/>
          <a:lstStyle/>
          <a:p>
            <a:r>
              <a:rPr lang="en-US" dirty="0"/>
              <a:t>Pandemic Disruption</a:t>
            </a:r>
          </a:p>
        </p:txBody>
      </p:sp>
      <p:sp>
        <p:nvSpPr>
          <p:cNvPr id="4" name="Content Placeholder 3">
            <a:extLst>
              <a:ext uri="{FF2B5EF4-FFF2-40B4-BE49-F238E27FC236}">
                <a16:creationId xmlns:a16="http://schemas.microsoft.com/office/drawing/2014/main" id="{3770D91C-D5C0-248C-26D3-DE7C7C72E632}"/>
              </a:ext>
            </a:extLst>
          </p:cNvPr>
          <p:cNvSpPr>
            <a:spLocks noGrp="1"/>
          </p:cNvSpPr>
          <p:nvPr>
            <p:ph sz="quarter" idx="36"/>
          </p:nvPr>
        </p:nvSpPr>
        <p:spPr>
          <a:xfrm>
            <a:off x="9668107" y="2157290"/>
            <a:ext cx="1976006" cy="3398819"/>
          </a:xfrm>
        </p:spPr>
        <p:txBody>
          <a:bodyPr/>
          <a:lstStyle/>
          <a:p>
            <a:r>
              <a:rPr lang="en-US" sz="1500" dirty="0"/>
              <a:t>A line chart was selected to highlight the drastic visual intersection in 2022 where inflation overtakes rates, forcing an aggressive, delayed policy correction.</a:t>
            </a:r>
          </a:p>
        </p:txBody>
      </p:sp>
      <p:sp>
        <p:nvSpPr>
          <p:cNvPr id="5" name="Slide Number Placeholder 4">
            <a:extLst>
              <a:ext uri="{FF2B5EF4-FFF2-40B4-BE49-F238E27FC236}">
                <a16:creationId xmlns:a16="http://schemas.microsoft.com/office/drawing/2014/main" id="{E87B8B6A-2B28-5C38-80E7-0EBE705FFBBF}"/>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4</a:t>
            </a:fld>
            <a:endParaRPr lang="en-US" dirty="0"/>
          </a:p>
        </p:txBody>
      </p:sp>
      <p:sp>
        <p:nvSpPr>
          <p:cNvPr id="7" name="TextBox 6">
            <a:extLst>
              <a:ext uri="{FF2B5EF4-FFF2-40B4-BE49-F238E27FC236}">
                <a16:creationId xmlns:a16="http://schemas.microsoft.com/office/drawing/2014/main" id="{BC6DB861-7947-6398-9238-9F0A5EBA99E7}"/>
              </a:ext>
            </a:extLst>
          </p:cNvPr>
          <p:cNvSpPr txBox="1"/>
          <p:nvPr/>
        </p:nvSpPr>
        <p:spPr>
          <a:xfrm>
            <a:off x="0" y="6611779"/>
            <a:ext cx="8971280" cy="246221"/>
          </a:xfrm>
          <a:prstGeom prst="rect">
            <a:avLst/>
          </a:prstGeom>
          <a:noFill/>
        </p:spPr>
        <p:txBody>
          <a:bodyPr wrap="square" rtlCol="0">
            <a:spAutoFit/>
          </a:bodyPr>
          <a:lstStyle/>
          <a:p>
            <a:r>
              <a:rPr lang="en-US" sz="1000" dirty="0">
                <a:solidFill>
                  <a:schemeClr val="bg1">
                    <a:lumMod val="75000"/>
                  </a:schemeClr>
                </a:solidFill>
              </a:rPr>
              <a:t>Date Source: Federal Reserve Economic Data (FRED) API; Bureau of Labor Statistics; Federal Reserve Board.</a:t>
            </a:r>
          </a:p>
        </p:txBody>
      </p:sp>
      <p:sp>
        <p:nvSpPr>
          <p:cNvPr id="9" name="Title 6">
            <a:extLst>
              <a:ext uri="{FF2B5EF4-FFF2-40B4-BE49-F238E27FC236}">
                <a16:creationId xmlns:a16="http://schemas.microsoft.com/office/drawing/2014/main" id="{1EC849D0-4AA1-E4A3-6844-C74531CDA6DB}"/>
              </a:ext>
            </a:extLst>
          </p:cNvPr>
          <p:cNvSpPr txBox="1">
            <a:spLocks/>
          </p:cNvSpPr>
          <p:nvPr/>
        </p:nvSpPr>
        <p:spPr>
          <a:xfrm>
            <a:off x="584454" y="757532"/>
            <a:ext cx="11299717" cy="72966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300" baseline="0">
                <a:solidFill>
                  <a:schemeClr val="accent3">
                    <a:lumMod val="75000"/>
                  </a:schemeClr>
                </a:solidFill>
                <a:latin typeface="+mj-lt"/>
                <a:ea typeface="+mj-ea"/>
                <a:cs typeface="Biome" panose="020B0503030204020804" pitchFamily="34" charset="0"/>
              </a:defRPr>
            </a:lvl1pPr>
          </a:lstStyle>
          <a:p>
            <a:r>
              <a:rPr lang="en-US" sz="2000" dirty="0">
                <a:solidFill>
                  <a:schemeClr val="bg1"/>
                </a:solidFill>
              </a:rPr>
              <a:t>the fastest rate hikes CAUSED BY 40 YEAR long HIGH inflation </a:t>
            </a:r>
          </a:p>
        </p:txBody>
      </p:sp>
      <p:pic>
        <p:nvPicPr>
          <p:cNvPr id="13" name="Content Placeholder 12">
            <a:extLst>
              <a:ext uri="{FF2B5EF4-FFF2-40B4-BE49-F238E27FC236}">
                <a16:creationId xmlns:a16="http://schemas.microsoft.com/office/drawing/2014/main" id="{66B1B89C-1F78-2C56-6C9B-3B0A28DDAC4C}"/>
              </a:ext>
            </a:extLst>
          </p:cNvPr>
          <p:cNvPicPr>
            <a:picLocks noGrp="1" noChangeAspect="1"/>
          </p:cNvPicPr>
          <p:nvPr>
            <p:ph sz="quarter" idx="35"/>
          </p:nvPr>
        </p:nvPicPr>
        <p:blipFill>
          <a:blip r:embed="rId3"/>
          <a:stretch>
            <a:fillRect/>
          </a:stretch>
        </p:blipFill>
        <p:spPr>
          <a:xfrm>
            <a:off x="686670" y="1565290"/>
            <a:ext cx="8803018" cy="4660908"/>
          </a:xfrm>
          <a:prstGeom prst="rect">
            <a:avLst/>
          </a:prstGeom>
        </p:spPr>
      </p:pic>
    </p:spTree>
    <p:extLst>
      <p:ext uri="{BB962C8B-B14F-4D97-AF65-F5344CB8AC3E}">
        <p14:creationId xmlns:p14="http://schemas.microsoft.com/office/powerpoint/2010/main" val="2728059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5</a:t>
            </a:fld>
            <a:endParaRPr lang="en-US" dirty="0"/>
          </a:p>
        </p:txBody>
      </p:sp>
      <p:sp>
        <p:nvSpPr>
          <p:cNvPr id="6" name="TextBox 5">
            <a:extLst>
              <a:ext uri="{FF2B5EF4-FFF2-40B4-BE49-F238E27FC236}">
                <a16:creationId xmlns:a16="http://schemas.microsoft.com/office/drawing/2014/main" id="{435C79D4-DA20-AD29-EC00-9A5A49FE717B}"/>
              </a:ext>
            </a:extLst>
          </p:cNvPr>
          <p:cNvSpPr txBox="1"/>
          <p:nvPr/>
        </p:nvSpPr>
        <p:spPr>
          <a:xfrm>
            <a:off x="0" y="6611779"/>
            <a:ext cx="8971280" cy="246221"/>
          </a:xfrm>
          <a:prstGeom prst="rect">
            <a:avLst/>
          </a:prstGeom>
          <a:noFill/>
        </p:spPr>
        <p:txBody>
          <a:bodyPr wrap="square" rtlCol="0">
            <a:spAutoFit/>
          </a:bodyPr>
          <a:lstStyle/>
          <a:p>
            <a:r>
              <a:rPr lang="en-US" sz="1000" dirty="0">
                <a:solidFill>
                  <a:schemeClr val="bg1">
                    <a:lumMod val="75000"/>
                  </a:schemeClr>
                </a:solidFill>
              </a:rPr>
              <a:t>Date Source: Federal Reserve Economic Data (FRED) API; Bureau of Labor Statistics; Federal Reserve Board.</a:t>
            </a:r>
          </a:p>
        </p:txBody>
      </p:sp>
      <p:sp>
        <p:nvSpPr>
          <p:cNvPr id="7" name="Title 1">
            <a:extLst>
              <a:ext uri="{FF2B5EF4-FFF2-40B4-BE49-F238E27FC236}">
                <a16:creationId xmlns:a16="http://schemas.microsoft.com/office/drawing/2014/main" id="{5008814C-1857-0E17-CB44-C18637F38791}"/>
              </a:ext>
            </a:extLst>
          </p:cNvPr>
          <p:cNvSpPr txBox="1">
            <a:spLocks/>
          </p:cNvSpPr>
          <p:nvPr/>
        </p:nvSpPr>
        <p:spPr>
          <a:xfrm>
            <a:off x="0" y="-133088"/>
            <a:ext cx="11725617" cy="10437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200" kern="1200" cap="all" spc="300" baseline="0">
                <a:solidFill>
                  <a:schemeClr val="bg1"/>
                </a:solidFill>
                <a:latin typeface="+mj-lt"/>
                <a:ea typeface="+mj-ea"/>
                <a:cs typeface="Biome" panose="020B0503030204020804" pitchFamily="34" charset="0"/>
              </a:defRPr>
            </a:lvl1pPr>
          </a:lstStyle>
          <a:p>
            <a:r>
              <a:rPr lang="en-US" dirty="0">
                <a:solidFill>
                  <a:schemeClr val="accent3">
                    <a:lumMod val="75000"/>
                  </a:schemeClr>
                </a:solidFill>
              </a:rPr>
              <a:t> Trade-off: Mapping the Contradiction</a:t>
            </a:r>
          </a:p>
        </p:txBody>
      </p:sp>
      <p:sp>
        <p:nvSpPr>
          <p:cNvPr id="9" name="Title 6">
            <a:extLst>
              <a:ext uri="{FF2B5EF4-FFF2-40B4-BE49-F238E27FC236}">
                <a16:creationId xmlns:a16="http://schemas.microsoft.com/office/drawing/2014/main" id="{9F2DD69B-900C-BE19-D387-6FC9E3F3010C}"/>
              </a:ext>
            </a:extLst>
          </p:cNvPr>
          <p:cNvSpPr txBox="1">
            <a:spLocks/>
          </p:cNvSpPr>
          <p:nvPr/>
        </p:nvSpPr>
        <p:spPr>
          <a:xfrm>
            <a:off x="8887523" y="1330465"/>
            <a:ext cx="2996648" cy="190685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300" baseline="0">
                <a:solidFill>
                  <a:schemeClr val="accent3">
                    <a:lumMod val="75000"/>
                  </a:schemeClr>
                </a:solidFill>
                <a:latin typeface="+mj-lt"/>
                <a:ea typeface="+mj-ea"/>
                <a:cs typeface="Biome" panose="020B0503030204020804" pitchFamily="34" charset="0"/>
              </a:defRPr>
            </a:lvl1pPr>
          </a:lstStyle>
          <a:p>
            <a:r>
              <a:rPr lang="en-US" sz="2000" dirty="0">
                <a:solidFill>
                  <a:schemeClr val="bg1"/>
                </a:solidFill>
              </a:rPr>
              <a:t>economy rarely sits in the "Target Bullseye" </a:t>
            </a:r>
          </a:p>
          <a:p>
            <a:r>
              <a:rPr lang="en-US" sz="2000" dirty="0">
                <a:solidFill>
                  <a:schemeClr val="bg1"/>
                </a:solidFill>
              </a:rPr>
              <a:t>(2% Inflation, 4% Unemployment)</a:t>
            </a:r>
          </a:p>
        </p:txBody>
      </p:sp>
      <p:pic>
        <p:nvPicPr>
          <p:cNvPr id="15" name="Picture 14">
            <a:extLst>
              <a:ext uri="{FF2B5EF4-FFF2-40B4-BE49-F238E27FC236}">
                <a16:creationId xmlns:a16="http://schemas.microsoft.com/office/drawing/2014/main" id="{A4B48172-4922-9FD8-0A0B-FF04D96E349E}"/>
              </a:ext>
            </a:extLst>
          </p:cNvPr>
          <p:cNvPicPr>
            <a:picLocks noChangeAspect="1"/>
          </p:cNvPicPr>
          <p:nvPr/>
        </p:nvPicPr>
        <p:blipFill>
          <a:blip r:embed="rId3"/>
          <a:stretch>
            <a:fillRect/>
          </a:stretch>
        </p:blipFill>
        <p:spPr>
          <a:xfrm>
            <a:off x="466383" y="995928"/>
            <a:ext cx="8331929" cy="5530596"/>
          </a:xfrm>
          <a:prstGeom prst="rect">
            <a:avLst/>
          </a:prstGeom>
        </p:spPr>
      </p:pic>
      <p:sp>
        <p:nvSpPr>
          <p:cNvPr id="16" name="Text Placeholder 3">
            <a:extLst>
              <a:ext uri="{FF2B5EF4-FFF2-40B4-BE49-F238E27FC236}">
                <a16:creationId xmlns:a16="http://schemas.microsoft.com/office/drawing/2014/main" id="{682E315A-87DE-9C45-E94A-9AACC7D6DB9A}"/>
              </a:ext>
            </a:extLst>
          </p:cNvPr>
          <p:cNvSpPr txBox="1">
            <a:spLocks/>
          </p:cNvSpPr>
          <p:nvPr/>
        </p:nvSpPr>
        <p:spPr>
          <a:xfrm>
            <a:off x="8971280" y="3950018"/>
            <a:ext cx="2648291" cy="2276179"/>
          </a:xfrm>
          <a:prstGeom prst="rect">
            <a:avLst/>
          </a:prstGeom>
        </p:spPr>
        <p:txBody>
          <a:bodyPr anchor="t"/>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dirty="0">
                <a:solidFill>
                  <a:schemeClr val="bg1"/>
                </a:solidFill>
                <a:latin typeface="+mn-lt"/>
              </a:rPr>
              <a:t>A scatter plot was selected to remove the time axis and map the contradiction between inflation and unemployment ( The Phillips Curve). Color encoding replaces the need for a third axis to show Fed's reaction</a:t>
            </a:r>
          </a:p>
        </p:txBody>
      </p:sp>
    </p:spTree>
    <p:extLst>
      <p:ext uri="{BB962C8B-B14F-4D97-AF65-F5344CB8AC3E}">
        <p14:creationId xmlns:p14="http://schemas.microsoft.com/office/powerpoint/2010/main" val="13971937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78000">
              <a:schemeClr val="accent6">
                <a:lumMod val="50000"/>
              </a:schemeClr>
            </a:gs>
            <a:gs pos="35040">
              <a:srgbClr val="020B11"/>
            </a:gs>
            <a:gs pos="11979">
              <a:schemeClr val="accent4">
                <a:lumMod val="50000"/>
              </a:schemeClr>
            </a:gs>
            <a:gs pos="0">
              <a:schemeClr val="accent4"/>
            </a:gs>
            <a:gs pos="99000">
              <a:schemeClr val="tx2">
                <a:lumMod val="50000"/>
              </a:schemeClr>
            </a:gs>
          </a:gsLst>
          <a:lin ang="7800000" scaled="0"/>
        </a:gradFill>
        <a:effectLst/>
      </p:bgPr>
    </p:bg>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442075" y="1240010"/>
            <a:ext cx="11486267" cy="838571"/>
          </a:xfrm>
        </p:spPr>
        <p:txBody>
          <a:bodyPr/>
          <a:lstStyle/>
          <a:p>
            <a:r>
              <a:rPr lang="en-US" dirty="0"/>
              <a:t>Fulfill congress mandate? By balancing</a:t>
            </a:r>
          </a:p>
        </p:txBody>
      </p:sp>
      <p:sp>
        <p:nvSpPr>
          <p:cNvPr id="14" name="Text Placeholder 2">
            <a:extLst>
              <a:ext uri="{FF2B5EF4-FFF2-40B4-BE49-F238E27FC236}">
                <a16:creationId xmlns:a16="http://schemas.microsoft.com/office/drawing/2014/main" id="{AE5F2E56-9F77-E1C2-EC04-EA959822CA61}"/>
              </a:ext>
            </a:extLst>
          </p:cNvPr>
          <p:cNvSpPr>
            <a:spLocks noGrp="1"/>
          </p:cNvSpPr>
          <p:nvPr>
            <p:ph sz="quarter" idx="14"/>
          </p:nvPr>
        </p:nvSpPr>
        <p:spPr>
          <a:xfrm>
            <a:off x="824802" y="2822641"/>
            <a:ext cx="10542395" cy="3466647"/>
          </a:xfrm>
        </p:spPr>
        <p:txBody>
          <a:bodyPr/>
          <a:lstStyle/>
          <a:p>
            <a:pPr lvl="0"/>
            <a:r>
              <a:rPr lang="en-US" b="1" dirty="0"/>
              <a:t>1. Are these contradictory objectives?</a:t>
            </a:r>
            <a:endParaRPr lang="en-US" dirty="0"/>
          </a:p>
          <a:p>
            <a:pPr lvl="1"/>
            <a:r>
              <a:rPr lang="en-US" sz="1800" dirty="0">
                <a:solidFill>
                  <a:schemeClr val="accent3">
                    <a:lumMod val="75000"/>
                  </a:schemeClr>
                </a:solidFill>
              </a:rPr>
              <a:t>YES. </a:t>
            </a:r>
            <a:r>
              <a:rPr lang="en-US" sz="1800" dirty="0"/>
              <a:t>The data proves that using the interest rate scale to keep unemployment low (cutting rates), eventually pushes inflation up, and fighting inflation (hiking rates) risks decreasing demand for labor (unemployment up)</a:t>
            </a:r>
          </a:p>
          <a:p>
            <a:pPr lvl="0"/>
            <a:r>
              <a:rPr lang="en-US" b="1" dirty="0"/>
              <a:t>2.</a:t>
            </a:r>
            <a:r>
              <a:rPr lang="en-US" dirty="0"/>
              <a:t> </a:t>
            </a:r>
            <a:r>
              <a:rPr lang="en-US" b="1" dirty="0"/>
              <a:t>Has the FED been able to fulfill the mandate?</a:t>
            </a:r>
            <a:endParaRPr lang="en-US" sz="1600" b="1" dirty="0"/>
          </a:p>
          <a:p>
            <a:pPr lvl="1"/>
            <a:r>
              <a:rPr lang="en-US" sz="1800" dirty="0">
                <a:solidFill>
                  <a:schemeClr val="accent3">
                    <a:lumMod val="75000"/>
                  </a:schemeClr>
                </a:solidFill>
              </a:rPr>
              <a:t>YES, </a:t>
            </a:r>
            <a:r>
              <a:rPr lang="en-US" sz="1800" dirty="0"/>
              <a:t>but with constant change. Over a 25-year timeline, the Fed acts as a shock absorber: prevent long-term deflation spirals and keep inflation peaks steady by trading off one side of the mandate for the other based on the current economic crisis</a:t>
            </a:r>
          </a:p>
        </p:txBody>
      </p:sp>
      <p:sp>
        <p:nvSpPr>
          <p:cNvPr id="3" name="TextBox 2">
            <a:extLst>
              <a:ext uri="{FF2B5EF4-FFF2-40B4-BE49-F238E27FC236}">
                <a16:creationId xmlns:a16="http://schemas.microsoft.com/office/drawing/2014/main" id="{FF96A80E-F544-0447-178C-CBE04136AD78}"/>
              </a:ext>
            </a:extLst>
          </p:cNvPr>
          <p:cNvSpPr txBox="1"/>
          <p:nvPr/>
        </p:nvSpPr>
        <p:spPr>
          <a:xfrm>
            <a:off x="0" y="6611779"/>
            <a:ext cx="8971280" cy="246221"/>
          </a:xfrm>
          <a:prstGeom prst="rect">
            <a:avLst/>
          </a:prstGeom>
          <a:noFill/>
        </p:spPr>
        <p:txBody>
          <a:bodyPr wrap="square" rtlCol="0">
            <a:spAutoFit/>
          </a:bodyPr>
          <a:lstStyle/>
          <a:p>
            <a:r>
              <a:rPr lang="en-US" sz="1000" dirty="0">
                <a:solidFill>
                  <a:schemeClr val="bg1">
                    <a:lumMod val="75000"/>
                  </a:schemeClr>
                </a:solidFill>
              </a:rPr>
              <a:t>Date Source: Federal Reserve Economic Data (FRED) API; Bureau of Labor Statistics; Federal Reserve Board.</a:t>
            </a:r>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Scientific findings presentation</Template>
  <TotalTime>67</TotalTime>
  <Words>502</Words>
  <Application>Microsoft Office PowerPoint</Application>
  <PresentationFormat>Widescreen</PresentationFormat>
  <Paragraphs>39</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Arial Nova</vt:lpstr>
      <vt:lpstr>Biome</vt:lpstr>
      <vt:lpstr>Calibri</vt:lpstr>
      <vt:lpstr>Custom</vt:lpstr>
      <vt:lpstr>Federal reserve’s dual mandate</vt:lpstr>
      <vt:lpstr>great recession &amp; rate cuts </vt:lpstr>
      <vt:lpstr>Long Recovery (2010–2019)</vt:lpstr>
      <vt:lpstr>Pandemic Disruption</vt:lpstr>
      <vt:lpstr>PowerPoint Presentation</vt:lpstr>
      <vt:lpstr>Fulfill congress mandate? By balancing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Maggie</dc:creator>
  <cp:lastModifiedBy>Maggie</cp:lastModifiedBy>
  <cp:revision>3</cp:revision>
  <dcterms:created xsi:type="dcterms:W3CDTF">2026-09-19T19:43:45Z</dcterms:created>
  <dcterms:modified xsi:type="dcterms:W3CDTF">2026-09-19T20:51:11Z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